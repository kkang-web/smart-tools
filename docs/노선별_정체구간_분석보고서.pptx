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748487-5E7D-34A5-5659-3AF337AC2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3243AA3-8E56-2AC2-C1BD-1B987AC7D5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DCA065-6E11-E37C-A739-8F779632F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26F43-07FF-44AC-8541-80F3E0103098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C13C54-1A7B-1AF3-184D-3A73308A3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1A3574-785A-6A8F-C12E-65676A9C3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6F92D-A67E-4580-B70E-94419593E4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4004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1269EE-4646-5008-0ABC-AD431943D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13F050-5514-5D2E-9D55-C706FFC6B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ED5DC1-5152-CF05-8895-9BB2BD747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26F43-07FF-44AC-8541-80F3E0103098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C46B89-B1AC-D6E9-5C72-378AFB7FD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364139-048A-2787-1BC0-D96656F6E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6F92D-A67E-4580-B70E-94419593E4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9675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90CA37-2A5C-B977-2C60-F05E55F6F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10D697-C97B-9A9F-B9B0-D3BE50028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349E83-3D91-DF39-EE63-225444410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26F43-07FF-44AC-8541-80F3E0103098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90CE15-679E-1CA4-E852-16505EE13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473F94-A1EC-9DCB-BDA0-A8C19B339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6F92D-A67E-4580-B70E-94419593E4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762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62C695-76F0-9D3E-204C-2B5F82096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276A64-0CC2-9739-7BE6-FE7A284FDF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D0A4546-3AE2-7A62-4E1D-10F775C985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9A4DD09-0EE3-183D-E12A-EBC636C65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26F43-07FF-44AC-8541-80F3E0103098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D4B13E-D5CF-A837-2CA2-A1703F3BF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2029C5D-2892-4AC7-215C-387F6CC65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6F92D-A67E-4580-B70E-94419593E4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3930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6C1705-C210-0926-1F9F-92511B4E4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5F55F8-9934-388A-D416-FCD100887E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0D86DD1-AEAB-054C-8267-D337221DCA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7FBAD02-E48D-8C53-E991-01473972FD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65C869C-C595-001A-1A27-D413411C6F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1AA1A07-3A52-F115-9CA2-2E2528010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26F43-07FF-44AC-8541-80F3E0103098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3172C09-1658-405A-7CAB-CA6016455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90B58A8-C916-1FC1-E41E-CA7449A14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6F92D-A67E-4580-B70E-94419593E4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221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063993-B2D7-8001-1A7A-0CD618FDF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84BE463-61FA-3D97-1985-DF6726EB1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26F43-07FF-44AC-8541-80F3E0103098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161F0C-A3BD-0D54-376C-9596C16FF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4C31AB-DE5E-2F8C-7E8A-9DA17B3CA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6F92D-A67E-4580-B70E-94419593E4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9561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15C71B0-9BA9-D8BC-C2F0-94535BBA9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26F43-07FF-44AC-8541-80F3E0103098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9396FD8-068B-44E1-0BF0-D7608D0B4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C0CCD1-BAD6-3ABB-0A61-5FDCCFB90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6F92D-A67E-4580-B70E-94419593E4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3509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F20195-0675-0FA4-5336-07A56BD1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B53977-5E7F-6C5B-421A-3D365701B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718DC43-D1BB-08E2-D246-AB6B061D96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837328F-DB44-F6E9-A3F6-996A36E0F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26F43-07FF-44AC-8541-80F3E0103098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EC922BA-2F42-247D-F739-7576BD1E7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5B1191A-A8B1-66F3-6D14-5660FEBB3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6F92D-A67E-4580-B70E-94419593E4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5128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5ED962-21EF-7BB7-818B-8888A7F6F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6FA0557-4543-A90B-11C8-20C196C55F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2D6AFEC-05C0-B0A9-8E75-E56933A93B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1927F1A-289F-77DF-BFEA-22A3239D2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26F43-07FF-44AC-8541-80F3E0103098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7CC22B-4EC2-99BE-1C5A-2D519C0AD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151A97-9CA6-B116-1F16-B081A272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6F92D-A67E-4580-B70E-94419593E4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6095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FD9459-F5D9-A62E-CA07-F0E1CA199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6C59EE-609A-DEA1-C687-8721A2C3C9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FBF0A7-E14A-91EB-33AA-AA24CD42F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26F43-07FF-44AC-8541-80F3E0103098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5A903A-6765-6A0D-C081-6BEB1A718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BBA552-11F8-ADB6-ED53-80B4779B0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6F92D-A67E-4580-B70E-94419593E4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172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FBFAD27-CC1E-30C9-CC1B-4A1AE182DE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091C7F6-90EB-7748-6575-C4139445BF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D00955-DB5C-A836-352E-E553D8AD8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26F43-07FF-44AC-8541-80F3E0103098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3287CC-D06B-9FB4-B539-FED4F8BBC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DF9567-523F-A4EF-4EFB-2E4C29D4A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6F92D-A67E-4580-B70E-94419593E4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5794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F8FC4F6-EBF9-6961-244F-789F44D30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25F15C-6FDE-34EB-D337-F5B3B1222F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E341F8-B897-27ED-70C9-ADF5801AE6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226F43-07FF-44AC-8541-80F3E0103098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D40EA1-DBB2-DEE8-C65C-0892F75C41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5B96DC-C58C-2F97-6FE4-DB2B200347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46F92D-A67E-4580-B70E-94419593E4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7615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51630CF-6075-8390-25AB-4DBB234C8C0D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DC891CA-72F9-E2DF-3637-6FF7D0F58070}"/>
              </a:ext>
            </a:extLst>
          </p:cNvPr>
          <p:cNvSpPr/>
          <p:nvPr/>
        </p:nvSpPr>
        <p:spPr>
          <a:xfrm>
            <a:off x="508000" y="1778000"/>
            <a:ext cx="7112000" cy="2540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23A691-83B7-97B1-08A0-C7FBD172E8F7}"/>
              </a:ext>
            </a:extLst>
          </p:cNvPr>
          <p:cNvSpPr txBox="1"/>
          <p:nvPr/>
        </p:nvSpPr>
        <p:spPr>
          <a:xfrm>
            <a:off x="711200" y="1930400"/>
            <a:ext cx="673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3000" b="1">
                <a:solidFill>
                  <a:srgbClr val="FFFFFF"/>
                </a:solidFill>
                <a:latin typeface="맑은 고딕" panose="020B0503020000020004" pitchFamily="50" charset="-127"/>
              </a:rPr>
              <a:t>노선별 정체구간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6D6245-309D-EC91-5A40-B3AE31C97DDB}"/>
              </a:ext>
            </a:extLst>
          </p:cNvPr>
          <p:cNvSpPr txBox="1"/>
          <p:nvPr/>
        </p:nvSpPr>
        <p:spPr>
          <a:xfrm>
            <a:off x="711200" y="2540000"/>
            <a:ext cx="673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3000" b="1">
                <a:solidFill>
                  <a:srgbClr val="3B82F6"/>
                </a:solidFill>
                <a:latin typeface="맑은 고딕" panose="020B0503020000020004" pitchFamily="50" charset="-127"/>
              </a:rPr>
              <a:t>분석 보고서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31B842-E42F-9C6C-4C4A-57066EDBB8CE}"/>
              </a:ext>
            </a:extLst>
          </p:cNvPr>
          <p:cNvSpPr txBox="1"/>
          <p:nvPr/>
        </p:nvSpPr>
        <p:spPr>
          <a:xfrm>
            <a:off x="711200" y="3200400"/>
            <a:ext cx="673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100">
                <a:solidFill>
                  <a:srgbClr val="94A3B8"/>
                </a:solidFill>
                <a:latin typeface="맑은 고딕" panose="020B0503020000020004" pitchFamily="50" charset="-127"/>
              </a:rPr>
              <a:t>2026.04.01 ~ 2026.05.01  |  </a:t>
            </a:r>
            <a:r>
              <a:rPr lang="ko-KR" altLang="en-US" sz="1100">
                <a:solidFill>
                  <a:srgbClr val="94A3B8"/>
                </a:solidFill>
                <a:latin typeface="맑은 고딕" panose="020B0503020000020004" pitchFamily="50" charset="-127"/>
              </a:rPr>
              <a:t>전국 주요 고속도로 </a:t>
            </a:r>
            <a:r>
              <a:rPr lang="en-US" altLang="ko-KR" sz="1100">
                <a:solidFill>
                  <a:srgbClr val="94A3B8"/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1100">
                <a:solidFill>
                  <a:srgbClr val="94A3B8"/>
                </a:solidFill>
                <a:latin typeface="맑은 고딕" panose="020B0503020000020004" pitchFamily="50" charset="-127"/>
              </a:rPr>
              <a:t>개 노선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37D0509-5E8F-35A6-4021-DFE3B7FF43B3}"/>
              </a:ext>
            </a:extLst>
          </p:cNvPr>
          <p:cNvSpPr/>
          <p:nvPr/>
        </p:nvSpPr>
        <p:spPr>
          <a:xfrm>
            <a:off x="8128000" y="1143000"/>
            <a:ext cx="1879600" cy="1143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A9BDD13-89F5-E5DE-3C28-E2659DACC82A}"/>
              </a:ext>
            </a:extLst>
          </p:cNvPr>
          <p:cNvSpPr/>
          <p:nvPr/>
        </p:nvSpPr>
        <p:spPr>
          <a:xfrm>
            <a:off x="8128000" y="1143000"/>
            <a:ext cx="1879600" cy="508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F3E0BC-B562-05A9-C3A4-DD1FF6F9AC2A}"/>
              </a:ext>
            </a:extLst>
          </p:cNvPr>
          <p:cNvSpPr txBox="1"/>
          <p:nvPr/>
        </p:nvSpPr>
        <p:spPr>
          <a:xfrm>
            <a:off x="8255000" y="1320800"/>
            <a:ext cx="1625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2200" b="1">
                <a:solidFill>
                  <a:srgbClr val="3B82F6"/>
                </a:solidFill>
                <a:latin typeface="맑은 고딕" panose="020B0503020000020004" pitchFamily="50" charset="-127"/>
              </a:rPr>
              <a:t>120</a:t>
            </a:r>
            <a:r>
              <a:rPr lang="ko-KR" altLang="en-US" sz="2200" b="1">
                <a:solidFill>
                  <a:srgbClr val="3B82F6"/>
                </a:solidFill>
                <a:latin typeface="맑은 고딕" panose="020B0503020000020004" pitchFamily="50" charset="-127"/>
              </a:rPr>
              <a:t>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13044E-6D30-F531-E55D-AB4F0E3F76A1}"/>
              </a:ext>
            </a:extLst>
          </p:cNvPr>
          <p:cNvSpPr txBox="1"/>
          <p:nvPr/>
        </p:nvSpPr>
        <p:spPr>
          <a:xfrm>
            <a:off x="8178800" y="1803400"/>
            <a:ext cx="177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900">
                <a:solidFill>
                  <a:srgbClr val="94A3B8"/>
                </a:solidFill>
                <a:latin typeface="맑은 고딕" panose="020B0503020000020004" pitchFamily="50" charset="-127"/>
              </a:rPr>
              <a:t>총 정체 발생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79E1181-624E-B8E6-F7A9-042FD6FCC991}"/>
              </a:ext>
            </a:extLst>
          </p:cNvPr>
          <p:cNvSpPr/>
          <p:nvPr/>
        </p:nvSpPr>
        <p:spPr>
          <a:xfrm>
            <a:off x="10160000" y="1143000"/>
            <a:ext cx="1879600" cy="1143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C544A36-3E24-7215-7832-7EEFC77D2F33}"/>
              </a:ext>
            </a:extLst>
          </p:cNvPr>
          <p:cNvSpPr/>
          <p:nvPr/>
        </p:nvSpPr>
        <p:spPr>
          <a:xfrm>
            <a:off x="10160000" y="1143000"/>
            <a:ext cx="1879600" cy="50800"/>
          </a:xfrm>
          <a:prstGeom prst="rect">
            <a:avLst/>
          </a:prstGeom>
          <a:solidFill>
            <a:srgbClr val="22C55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FB50D8-4120-616A-CEC3-A44E10912D80}"/>
              </a:ext>
            </a:extLst>
          </p:cNvPr>
          <p:cNvSpPr txBox="1"/>
          <p:nvPr/>
        </p:nvSpPr>
        <p:spPr>
          <a:xfrm>
            <a:off x="10287000" y="1320800"/>
            <a:ext cx="1625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2200" b="1">
                <a:solidFill>
                  <a:srgbClr val="22C55E"/>
                </a:solidFill>
                <a:latin typeface="맑은 고딕" panose="020B0503020000020004" pitchFamily="50" charset="-127"/>
              </a:rPr>
              <a:t>60.1</a:t>
            </a:r>
            <a:r>
              <a:rPr lang="ko-KR" altLang="en-US" sz="2200" b="1">
                <a:solidFill>
                  <a:srgbClr val="22C55E"/>
                </a:solidFill>
                <a:latin typeface="맑은 고딕" panose="020B0503020000020004" pitchFamily="50" charset="-127"/>
              </a:rPr>
              <a:t>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05F1B6-83C1-5771-B097-44EB34B20B06}"/>
              </a:ext>
            </a:extLst>
          </p:cNvPr>
          <p:cNvSpPr txBox="1"/>
          <p:nvPr/>
        </p:nvSpPr>
        <p:spPr>
          <a:xfrm>
            <a:off x="10210800" y="1803400"/>
            <a:ext cx="177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900">
                <a:solidFill>
                  <a:srgbClr val="94A3B8"/>
                </a:solidFill>
                <a:latin typeface="맑은 고딕" panose="020B0503020000020004" pitchFamily="50" charset="-127"/>
              </a:rPr>
              <a:t>평균 지속시간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A82B43D-661A-09BE-D65A-B16FE211A18D}"/>
              </a:ext>
            </a:extLst>
          </p:cNvPr>
          <p:cNvSpPr/>
          <p:nvPr/>
        </p:nvSpPr>
        <p:spPr>
          <a:xfrm>
            <a:off x="8128000" y="2514600"/>
            <a:ext cx="1879600" cy="1143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1D98728-2880-7E18-4585-F403FA0F2BE5}"/>
              </a:ext>
            </a:extLst>
          </p:cNvPr>
          <p:cNvSpPr/>
          <p:nvPr/>
        </p:nvSpPr>
        <p:spPr>
          <a:xfrm>
            <a:off x="8128000" y="2514600"/>
            <a:ext cx="1879600" cy="508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3CD11F-550B-63DA-B1FA-B8C0F1025C7F}"/>
              </a:ext>
            </a:extLst>
          </p:cNvPr>
          <p:cNvSpPr txBox="1"/>
          <p:nvPr/>
        </p:nvSpPr>
        <p:spPr>
          <a:xfrm>
            <a:off x="8255000" y="2692400"/>
            <a:ext cx="1625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2200" b="1">
                <a:solidFill>
                  <a:srgbClr val="F59E0B"/>
                </a:solidFill>
                <a:latin typeface="맑은 고딕" panose="020B0503020000020004" pitchFamily="50" charset="-127"/>
              </a:rPr>
              <a:t>3.7 km</a:t>
            </a:r>
            <a:endParaRPr lang="ko-KR" altLang="en-US" sz="2200" b="1">
              <a:solidFill>
                <a:srgbClr val="F59E0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62DE70-4C9F-469D-84A8-E14EAB5C83F0}"/>
              </a:ext>
            </a:extLst>
          </p:cNvPr>
          <p:cNvSpPr txBox="1"/>
          <p:nvPr/>
        </p:nvSpPr>
        <p:spPr>
          <a:xfrm>
            <a:off x="8178800" y="3175000"/>
            <a:ext cx="177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900">
                <a:solidFill>
                  <a:srgbClr val="94A3B8"/>
                </a:solidFill>
                <a:latin typeface="맑은 고딕" panose="020B0503020000020004" pitchFamily="50" charset="-127"/>
              </a:rPr>
              <a:t>평균 정체길이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4CB614B-E74B-0923-3CCB-7586FC3C691C}"/>
              </a:ext>
            </a:extLst>
          </p:cNvPr>
          <p:cNvSpPr/>
          <p:nvPr/>
        </p:nvSpPr>
        <p:spPr>
          <a:xfrm>
            <a:off x="10160000" y="2514600"/>
            <a:ext cx="1879600" cy="1143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D485AE1-9A61-2877-30E0-1B9EAEFAE0F9}"/>
              </a:ext>
            </a:extLst>
          </p:cNvPr>
          <p:cNvSpPr/>
          <p:nvPr/>
        </p:nvSpPr>
        <p:spPr>
          <a:xfrm>
            <a:off x="10160000" y="2514600"/>
            <a:ext cx="1879600" cy="50800"/>
          </a:xfrm>
          <a:prstGeom prst="rect">
            <a:avLst/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8C7381-07DC-8C61-97A2-86C0F4471D75}"/>
              </a:ext>
            </a:extLst>
          </p:cNvPr>
          <p:cNvSpPr txBox="1"/>
          <p:nvPr/>
        </p:nvSpPr>
        <p:spPr>
          <a:xfrm>
            <a:off x="10287000" y="2692400"/>
            <a:ext cx="1625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2200" b="1">
                <a:solidFill>
                  <a:srgbClr val="EF4444"/>
                </a:solidFill>
                <a:latin typeface="맑은 고딕" panose="020B0503020000020004" pitchFamily="50" charset="-127"/>
              </a:rPr>
              <a:t>180</a:t>
            </a:r>
            <a:r>
              <a:rPr lang="ko-KR" altLang="en-US" sz="2200" b="1">
                <a:solidFill>
                  <a:srgbClr val="EF4444"/>
                </a:solidFill>
                <a:latin typeface="맑은 고딕" panose="020B0503020000020004" pitchFamily="50" charset="-127"/>
              </a:rPr>
              <a:t>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3CDFCA-8DFA-612D-6122-35B1FF282C89}"/>
              </a:ext>
            </a:extLst>
          </p:cNvPr>
          <p:cNvSpPr txBox="1"/>
          <p:nvPr/>
        </p:nvSpPr>
        <p:spPr>
          <a:xfrm>
            <a:off x="10210800" y="3175000"/>
            <a:ext cx="177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900">
                <a:solidFill>
                  <a:srgbClr val="94A3B8"/>
                </a:solidFill>
                <a:latin typeface="맑은 고딕" panose="020B0503020000020004" pitchFamily="50" charset="-127"/>
              </a:rPr>
              <a:t>최장 정체시간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7BE9AB-1E44-60DC-2375-950BDB44B70C}"/>
              </a:ext>
            </a:extLst>
          </p:cNvPr>
          <p:cNvSpPr txBox="1"/>
          <p:nvPr/>
        </p:nvSpPr>
        <p:spPr>
          <a:xfrm>
            <a:off x="508000" y="6223000"/>
            <a:ext cx="762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000">
                <a:solidFill>
                  <a:srgbClr val="64748B"/>
                </a:solidFill>
                <a:latin typeface="맑은 고딕" panose="020B0503020000020004" pitchFamily="50" charset="-127"/>
              </a:rPr>
              <a:t>한국도로공사  </a:t>
            </a:r>
            <a:r>
              <a:rPr lang="en-US" altLang="ko-KR" sz="1000">
                <a:solidFill>
                  <a:srgbClr val="64748B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1000">
                <a:solidFill>
                  <a:srgbClr val="64748B"/>
                </a:solidFill>
                <a:latin typeface="맑은 고딕" panose="020B0503020000020004" pitchFamily="50" charset="-127"/>
              </a:rPr>
              <a:t>교통운영처  </a:t>
            </a:r>
            <a:r>
              <a:rPr lang="en-US" altLang="ko-KR" sz="1000">
                <a:solidFill>
                  <a:srgbClr val="64748B"/>
                </a:solidFill>
                <a:latin typeface="맑은 고딕" panose="020B0503020000020004" pitchFamily="50" charset="-127"/>
              </a:rPr>
              <a:t>|  2026</a:t>
            </a:r>
            <a:r>
              <a:rPr lang="ko-KR" altLang="en-US" sz="1000">
                <a:solidFill>
                  <a:srgbClr val="64748B"/>
                </a:solidFill>
                <a:latin typeface="맑은 고딕" panose="020B0503020000020004" pitchFamily="50" charset="-127"/>
              </a:rPr>
              <a:t>년 </a:t>
            </a:r>
            <a:r>
              <a:rPr lang="en-US" altLang="ko-KR" sz="1000">
                <a:solidFill>
                  <a:srgbClr val="64748B"/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1000">
                <a:solidFill>
                  <a:srgbClr val="64748B"/>
                </a:solidFill>
                <a:latin typeface="맑은 고딕" panose="020B0503020000020004" pitchFamily="50" charset="-127"/>
              </a:rPr>
              <a:t>월</a:t>
            </a: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2411BD68-37DC-65AB-C115-58782A084002}"/>
              </a:ext>
            </a:extLst>
          </p:cNvPr>
          <p:cNvSpPr/>
          <p:nvPr/>
        </p:nvSpPr>
        <p:spPr>
          <a:xfrm>
            <a:off x="8890000" y="4064000"/>
            <a:ext cx="2794000" cy="2794000"/>
          </a:xfrm>
          <a:prstGeom prst="ellipse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A9A4B509-5561-927B-331A-F31F26B52754}"/>
              </a:ext>
            </a:extLst>
          </p:cNvPr>
          <p:cNvSpPr/>
          <p:nvPr/>
        </p:nvSpPr>
        <p:spPr>
          <a:xfrm>
            <a:off x="9398000" y="4572000"/>
            <a:ext cx="1778000" cy="1778000"/>
          </a:xfrm>
          <a:prstGeom prst="ellipse">
            <a:avLst/>
          </a:prstGeom>
          <a:solidFill>
            <a:srgbClr val="061B3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14D43D-C3D5-A95E-D0FC-695963AFA4DB}"/>
              </a:ext>
            </a:extLst>
          </p:cNvPr>
          <p:cNvSpPr txBox="1"/>
          <p:nvPr/>
        </p:nvSpPr>
        <p:spPr>
          <a:xfrm>
            <a:off x="9398000" y="4826000"/>
            <a:ext cx="177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2800" b="1">
                <a:solidFill>
                  <a:srgbClr val="3B82F6"/>
                </a:solidFill>
                <a:latin typeface="맑은 고딕" panose="020B0503020000020004" pitchFamily="50" charset="-127"/>
              </a:rPr>
              <a:t>KEC</a:t>
            </a:r>
            <a:endParaRPr lang="ko-KR" altLang="en-US" sz="2800" b="1">
              <a:solidFill>
                <a:srgbClr val="3B82F6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92213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5D48A07-6E46-82BB-F1B9-FAA1CB0EB52D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61B3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1A49FA-AC2C-91CA-0F67-0654834C9B1A}"/>
              </a:ext>
            </a:extLst>
          </p:cNvPr>
          <p:cNvSpPr txBox="1"/>
          <p:nvPr/>
        </p:nvSpPr>
        <p:spPr>
          <a:xfrm>
            <a:off x="254000" y="152400"/>
            <a:ext cx="889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000" b="1">
                <a:solidFill>
                  <a:srgbClr val="FFFFFF"/>
                </a:solidFill>
                <a:latin typeface="맑은 고딕" panose="020B0503020000020004" pitchFamily="50" charset="-127"/>
              </a:rPr>
              <a:t>분석 개요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BA4944-6CE5-D2D7-7487-21EE025B0CC8}"/>
              </a:ext>
            </a:extLst>
          </p:cNvPr>
          <p:cNvSpPr txBox="1"/>
          <p:nvPr/>
        </p:nvSpPr>
        <p:spPr>
          <a:xfrm>
            <a:off x="254000" y="558800"/>
            <a:ext cx="889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100">
                <a:solidFill>
                  <a:srgbClr val="94A3B8"/>
                </a:solidFill>
                <a:latin typeface="맑은 고딕" panose="020B0503020000020004" pitchFamily="50" charset="-127"/>
              </a:rPr>
              <a:t>2026</a:t>
            </a:r>
            <a:r>
              <a:rPr lang="ko-KR" altLang="en-US" sz="1100">
                <a:solidFill>
                  <a:srgbClr val="94A3B8"/>
                </a:solidFill>
                <a:latin typeface="맑은 고딕" panose="020B0503020000020004" pitchFamily="50" charset="-127"/>
              </a:rPr>
              <a:t>년 </a:t>
            </a:r>
            <a:r>
              <a:rPr lang="en-US" altLang="ko-KR" sz="1100">
                <a:solidFill>
                  <a:srgbClr val="94A3B8"/>
                </a:solidFill>
                <a:latin typeface="맑은 고딕" panose="020B0503020000020004" pitchFamily="50" charset="-127"/>
              </a:rPr>
              <a:t>4~5</a:t>
            </a:r>
            <a:r>
              <a:rPr lang="ko-KR" altLang="en-US" sz="1100">
                <a:solidFill>
                  <a:srgbClr val="94A3B8"/>
                </a:solidFill>
                <a:latin typeface="맑은 고딕" panose="020B0503020000020004" pitchFamily="50" charset="-127"/>
              </a:rPr>
              <a:t>월 전국 고속도로 정체구간 주요 지표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9FCD24-9DC3-6F9F-E875-BD240E7E2559}"/>
              </a:ext>
            </a:extLst>
          </p:cNvPr>
          <p:cNvSpPr txBox="1"/>
          <p:nvPr/>
        </p:nvSpPr>
        <p:spPr>
          <a:xfrm>
            <a:off x="10414000" y="254000"/>
            <a:ext cx="165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1100" b="1">
                <a:solidFill>
                  <a:srgbClr val="94A3B8"/>
                </a:solidFill>
                <a:latin typeface="맑은 고딕" panose="020B0503020000020004" pitchFamily="50" charset="-127"/>
              </a:rPr>
              <a:t>한국도로공사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F378D08-5687-1006-D908-F9ED3F276DE4}"/>
              </a:ext>
            </a:extLst>
          </p:cNvPr>
          <p:cNvSpPr/>
          <p:nvPr/>
        </p:nvSpPr>
        <p:spPr>
          <a:xfrm>
            <a:off x="304800" y="1117600"/>
            <a:ext cx="2794000" cy="1397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666B457-8661-CC26-D751-42340E49C337}"/>
              </a:ext>
            </a:extLst>
          </p:cNvPr>
          <p:cNvSpPr/>
          <p:nvPr/>
        </p:nvSpPr>
        <p:spPr>
          <a:xfrm>
            <a:off x="304800" y="1117600"/>
            <a:ext cx="2794000" cy="508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923973-5BFE-094E-4469-A8DEE6B377AE}"/>
              </a:ext>
            </a:extLst>
          </p:cNvPr>
          <p:cNvSpPr txBox="1"/>
          <p:nvPr/>
        </p:nvSpPr>
        <p:spPr>
          <a:xfrm>
            <a:off x="431800" y="12954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2200" b="1">
                <a:solidFill>
                  <a:srgbClr val="3B82F6"/>
                </a:solidFill>
                <a:latin typeface="맑은 고딕" panose="020B0503020000020004" pitchFamily="50" charset="-127"/>
              </a:rPr>
              <a:t>120</a:t>
            </a:r>
            <a:r>
              <a:rPr lang="ko-KR" altLang="en-US" sz="2200" b="1">
                <a:solidFill>
                  <a:srgbClr val="3B82F6"/>
                </a:solidFill>
                <a:latin typeface="맑은 고딕" panose="020B0503020000020004" pitchFamily="50" charset="-127"/>
              </a:rPr>
              <a:t>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251C0B-5C3B-151E-D87E-6272E20CB3D3}"/>
              </a:ext>
            </a:extLst>
          </p:cNvPr>
          <p:cNvSpPr txBox="1"/>
          <p:nvPr/>
        </p:nvSpPr>
        <p:spPr>
          <a:xfrm>
            <a:off x="355600" y="1778000"/>
            <a:ext cx="2692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900">
                <a:solidFill>
                  <a:srgbClr val="94A3B8"/>
                </a:solidFill>
                <a:latin typeface="맑은 고딕" panose="020B0503020000020004" pitchFamily="50" charset="-127"/>
              </a:rPr>
              <a:t>총 정체 발생 건수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ABB6C63-D99A-42D2-B942-85CA42A29534}"/>
              </a:ext>
            </a:extLst>
          </p:cNvPr>
          <p:cNvSpPr/>
          <p:nvPr/>
        </p:nvSpPr>
        <p:spPr>
          <a:xfrm>
            <a:off x="3276600" y="1117600"/>
            <a:ext cx="2794000" cy="1397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7DBD675-0C5F-9482-7ED1-E24088ACA767}"/>
              </a:ext>
            </a:extLst>
          </p:cNvPr>
          <p:cNvSpPr/>
          <p:nvPr/>
        </p:nvSpPr>
        <p:spPr>
          <a:xfrm>
            <a:off x="3276600" y="1117600"/>
            <a:ext cx="2794000" cy="50800"/>
          </a:xfrm>
          <a:prstGeom prst="rect">
            <a:avLst/>
          </a:prstGeom>
          <a:solidFill>
            <a:srgbClr val="22C55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9E192C-4445-FBCE-5ACB-9A72A3E0DB6B}"/>
              </a:ext>
            </a:extLst>
          </p:cNvPr>
          <p:cNvSpPr txBox="1"/>
          <p:nvPr/>
        </p:nvSpPr>
        <p:spPr>
          <a:xfrm>
            <a:off x="3403600" y="12954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2200" b="1">
                <a:solidFill>
                  <a:srgbClr val="22C55E"/>
                </a:solidFill>
                <a:latin typeface="맑은 고딕" panose="020B0503020000020004" pitchFamily="50" charset="-127"/>
              </a:rPr>
              <a:t>60.1</a:t>
            </a:r>
            <a:r>
              <a:rPr lang="ko-KR" altLang="en-US" sz="2200" b="1">
                <a:solidFill>
                  <a:srgbClr val="22C55E"/>
                </a:solidFill>
                <a:latin typeface="맑은 고딕" panose="020B0503020000020004" pitchFamily="50" charset="-127"/>
              </a:rPr>
              <a:t>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AD3FDA-6B1C-F6DC-1BAF-1A80AE9C5C69}"/>
              </a:ext>
            </a:extLst>
          </p:cNvPr>
          <p:cNvSpPr txBox="1"/>
          <p:nvPr/>
        </p:nvSpPr>
        <p:spPr>
          <a:xfrm>
            <a:off x="3327400" y="1778000"/>
            <a:ext cx="2692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900">
                <a:solidFill>
                  <a:srgbClr val="94A3B8"/>
                </a:solidFill>
                <a:latin typeface="맑은 고딕" panose="020B0503020000020004" pitchFamily="50" charset="-127"/>
              </a:rPr>
              <a:t>평균 지속시간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C934EF0-9555-3A3F-2608-07E9185689CF}"/>
              </a:ext>
            </a:extLst>
          </p:cNvPr>
          <p:cNvSpPr/>
          <p:nvPr/>
        </p:nvSpPr>
        <p:spPr>
          <a:xfrm>
            <a:off x="6248400" y="1117600"/>
            <a:ext cx="2794000" cy="1397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88E9BAC-E759-1E9E-ECAF-BBC756D056C4}"/>
              </a:ext>
            </a:extLst>
          </p:cNvPr>
          <p:cNvSpPr/>
          <p:nvPr/>
        </p:nvSpPr>
        <p:spPr>
          <a:xfrm>
            <a:off x="6248400" y="1117600"/>
            <a:ext cx="2794000" cy="508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D9CEA2-9AE8-C7B9-B38E-75C78B00F4D8}"/>
              </a:ext>
            </a:extLst>
          </p:cNvPr>
          <p:cNvSpPr txBox="1"/>
          <p:nvPr/>
        </p:nvSpPr>
        <p:spPr>
          <a:xfrm>
            <a:off x="6375400" y="12954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2200" b="1">
                <a:solidFill>
                  <a:srgbClr val="F59E0B"/>
                </a:solidFill>
                <a:latin typeface="맑은 고딕" panose="020B0503020000020004" pitchFamily="50" charset="-127"/>
              </a:rPr>
              <a:t>3.7 km</a:t>
            </a:r>
            <a:endParaRPr lang="ko-KR" altLang="en-US" sz="2200" b="1">
              <a:solidFill>
                <a:srgbClr val="F59E0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FA5719-8BDE-4010-378E-D6895A8AC7DA}"/>
              </a:ext>
            </a:extLst>
          </p:cNvPr>
          <p:cNvSpPr txBox="1"/>
          <p:nvPr/>
        </p:nvSpPr>
        <p:spPr>
          <a:xfrm>
            <a:off x="6299200" y="1778000"/>
            <a:ext cx="2692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900">
                <a:solidFill>
                  <a:srgbClr val="94A3B8"/>
                </a:solidFill>
                <a:latin typeface="맑은 고딕" panose="020B0503020000020004" pitchFamily="50" charset="-127"/>
              </a:rPr>
              <a:t>평균 정체길이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083D429-24EF-72B3-00AC-5EA4548A7E08}"/>
              </a:ext>
            </a:extLst>
          </p:cNvPr>
          <p:cNvSpPr/>
          <p:nvPr/>
        </p:nvSpPr>
        <p:spPr>
          <a:xfrm>
            <a:off x="9220200" y="1117600"/>
            <a:ext cx="2794000" cy="1397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C493A9E-F99D-FCD2-2AC5-5322FA7F4D59}"/>
              </a:ext>
            </a:extLst>
          </p:cNvPr>
          <p:cNvSpPr/>
          <p:nvPr/>
        </p:nvSpPr>
        <p:spPr>
          <a:xfrm>
            <a:off x="9220200" y="1117600"/>
            <a:ext cx="2794000" cy="50800"/>
          </a:xfrm>
          <a:prstGeom prst="rect">
            <a:avLst/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5FF777-E2A7-F474-CFBB-17F4FAEBF928}"/>
              </a:ext>
            </a:extLst>
          </p:cNvPr>
          <p:cNvSpPr txBox="1"/>
          <p:nvPr/>
        </p:nvSpPr>
        <p:spPr>
          <a:xfrm>
            <a:off x="9347200" y="12954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2200" b="1">
                <a:solidFill>
                  <a:srgbClr val="EF4444"/>
                </a:solidFill>
                <a:latin typeface="맑은 고딕" panose="020B0503020000020004" pitchFamily="50" charset="-127"/>
              </a:rPr>
              <a:t>14.9 km</a:t>
            </a:r>
            <a:endParaRPr lang="ko-KR" altLang="en-US" sz="2200" b="1">
              <a:solidFill>
                <a:srgbClr val="EF444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CA61E9-A8C4-1383-408E-524BC46EB8E5}"/>
              </a:ext>
            </a:extLst>
          </p:cNvPr>
          <p:cNvSpPr txBox="1"/>
          <p:nvPr/>
        </p:nvSpPr>
        <p:spPr>
          <a:xfrm>
            <a:off x="9271000" y="1778000"/>
            <a:ext cx="2692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900">
                <a:solidFill>
                  <a:srgbClr val="94A3B8"/>
                </a:solidFill>
                <a:latin typeface="맑은 고딕" panose="020B0503020000020004" pitchFamily="50" charset="-127"/>
              </a:rPr>
              <a:t>최대 정체길이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F050FB8-8D2D-0B13-DF6A-535F5D8B6F4D}"/>
              </a:ext>
            </a:extLst>
          </p:cNvPr>
          <p:cNvSpPr/>
          <p:nvPr/>
        </p:nvSpPr>
        <p:spPr>
          <a:xfrm>
            <a:off x="304800" y="2743200"/>
            <a:ext cx="5715000" cy="1651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73E96E-1E31-27AE-C8C7-B9838D70AEF0}"/>
              </a:ext>
            </a:extLst>
          </p:cNvPr>
          <p:cNvSpPr txBox="1"/>
          <p:nvPr/>
        </p:nvSpPr>
        <p:spPr>
          <a:xfrm>
            <a:off x="457200" y="28448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b="1">
                <a:solidFill>
                  <a:srgbClr val="94A3B8"/>
                </a:solidFill>
                <a:latin typeface="맑은 고딕" panose="020B0503020000020004" pitchFamily="50" charset="-127"/>
              </a:rPr>
              <a:t>📋  분석 대상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0D73EE-8F64-3E80-DE4C-9EB7C9AD1E8E}"/>
              </a:ext>
            </a:extLst>
          </p:cNvPr>
          <p:cNvSpPr txBox="1"/>
          <p:nvPr/>
        </p:nvSpPr>
        <p:spPr>
          <a:xfrm>
            <a:off x="457200" y="3098800"/>
            <a:ext cx="546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000">
                <a:solidFill>
                  <a:srgbClr val="FFFFFF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000">
                <a:solidFill>
                  <a:srgbClr val="FFFFFF"/>
                </a:solidFill>
                <a:latin typeface="맑은 고딕" panose="020B0503020000020004" pitchFamily="50" charset="-127"/>
              </a:rPr>
              <a:t>기간</a:t>
            </a:r>
            <a:r>
              <a:rPr lang="en-US" altLang="ko-KR" sz="1000">
                <a:solidFill>
                  <a:srgbClr val="FFFFFF"/>
                </a:solidFill>
                <a:latin typeface="맑은 고딕" panose="020B0503020000020004" pitchFamily="50" charset="-127"/>
              </a:rPr>
              <a:t>: 2026</a:t>
            </a:r>
            <a:r>
              <a:rPr lang="ko-KR" altLang="en-US" sz="1000">
                <a:solidFill>
                  <a:srgbClr val="FFFFFF"/>
                </a:solidFill>
                <a:latin typeface="맑은 고딕" panose="020B0503020000020004" pitchFamily="50" charset="-127"/>
              </a:rPr>
              <a:t>년 </a:t>
            </a:r>
            <a:r>
              <a:rPr lang="en-US" altLang="ko-KR" sz="1000">
                <a:solidFill>
                  <a:srgbClr val="FFFFFF"/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1000">
                <a:solidFill>
                  <a:srgbClr val="FFFFFF"/>
                </a:solidFill>
                <a:latin typeface="맑은 고딕" panose="020B0503020000020004" pitchFamily="50" charset="-127"/>
              </a:rPr>
              <a:t>월 </a:t>
            </a:r>
            <a:r>
              <a:rPr lang="en-US" altLang="ko-KR" sz="1000">
                <a:solidFill>
                  <a:srgbClr val="FFFFFF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000">
                <a:solidFill>
                  <a:srgbClr val="FFFFFF"/>
                </a:solidFill>
                <a:latin typeface="맑은 고딕" panose="020B0503020000020004" pitchFamily="50" charset="-127"/>
              </a:rPr>
              <a:t>일 </a:t>
            </a:r>
            <a:r>
              <a:rPr lang="en-US" altLang="ko-KR" sz="1000">
                <a:solidFill>
                  <a:srgbClr val="FFFFFF"/>
                </a:solidFill>
                <a:latin typeface="맑은 고딕" panose="020B0503020000020004" pitchFamily="50" charset="-127"/>
              </a:rPr>
              <a:t>~ 5</a:t>
            </a:r>
            <a:r>
              <a:rPr lang="ko-KR" altLang="en-US" sz="1000">
                <a:solidFill>
                  <a:srgbClr val="FFFFFF"/>
                </a:solidFill>
                <a:latin typeface="맑은 고딕" panose="020B0503020000020004" pitchFamily="50" charset="-127"/>
              </a:rPr>
              <a:t>월 </a:t>
            </a:r>
            <a:r>
              <a:rPr lang="en-US" altLang="ko-KR" sz="1000">
                <a:solidFill>
                  <a:srgbClr val="FFFFFF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000">
                <a:solidFill>
                  <a:srgbClr val="FFFFFF"/>
                </a:solidFill>
                <a:latin typeface="맑은 고딕" panose="020B0503020000020004" pitchFamily="50" charset="-127"/>
              </a:rPr>
              <a:t>일 </a:t>
            </a:r>
            <a:r>
              <a:rPr lang="en-US" altLang="ko-KR" sz="1000">
                <a:solidFill>
                  <a:srgbClr val="FFFFFF"/>
                </a:solidFill>
                <a:latin typeface="맑은 고딕" panose="020B0503020000020004" pitchFamily="50" charset="-127"/>
              </a:rPr>
              <a:t>(31</a:t>
            </a:r>
            <a:r>
              <a:rPr lang="ko-KR" altLang="en-US" sz="1000">
                <a:solidFill>
                  <a:srgbClr val="FFFFFF"/>
                </a:solidFill>
                <a:latin typeface="맑은 고딕" panose="020B0503020000020004" pitchFamily="50" charset="-127"/>
              </a:rPr>
              <a:t>일간</a:t>
            </a:r>
            <a:r>
              <a:rPr lang="en-US" altLang="ko-KR" sz="1000">
                <a:solidFill>
                  <a:srgbClr val="FFFFFF"/>
                </a:solidFill>
                <a:latin typeface="맑은 고딕" panose="020B0503020000020004" pitchFamily="50" charset="-127"/>
              </a:rPr>
              <a:t>)
• </a:t>
            </a:r>
            <a:r>
              <a:rPr lang="ko-KR" altLang="en-US" sz="1000">
                <a:solidFill>
                  <a:srgbClr val="FFFFFF"/>
                </a:solidFill>
                <a:latin typeface="맑은 고딕" panose="020B0503020000020004" pitchFamily="50" charset="-127"/>
              </a:rPr>
              <a:t>대상 노선</a:t>
            </a:r>
            <a:r>
              <a:rPr lang="en-US" altLang="ko-KR" sz="1000">
                <a:solidFill>
                  <a:srgbClr val="FFFFFF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000">
                <a:solidFill>
                  <a:srgbClr val="FFFFFF"/>
                </a:solidFill>
                <a:latin typeface="맑은 고딕" panose="020B0503020000020004" pitchFamily="50" charset="-127"/>
              </a:rPr>
              <a:t>경부</a:t>
            </a:r>
            <a:r>
              <a:rPr lang="en-US" altLang="ko-KR" sz="1000">
                <a:solidFill>
                  <a:srgbClr val="FFFFFF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>
                <a:solidFill>
                  <a:srgbClr val="FFFFFF"/>
                </a:solidFill>
                <a:latin typeface="맑은 고딕" panose="020B0503020000020004" pitchFamily="50" charset="-127"/>
              </a:rPr>
              <a:t>남해</a:t>
            </a:r>
            <a:r>
              <a:rPr lang="en-US" altLang="ko-KR" sz="1000">
                <a:solidFill>
                  <a:srgbClr val="FFFFFF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>
                <a:solidFill>
                  <a:srgbClr val="FFFFFF"/>
                </a:solidFill>
                <a:latin typeface="맑은 고딕" panose="020B0503020000020004" pitchFamily="50" charset="-127"/>
              </a:rPr>
              <a:t>서해안</a:t>
            </a:r>
            <a:r>
              <a:rPr lang="en-US" altLang="ko-KR" sz="1000">
                <a:solidFill>
                  <a:srgbClr val="FFFFFF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>
                <a:solidFill>
                  <a:srgbClr val="FFFFFF"/>
                </a:solidFill>
                <a:latin typeface="맑은 고딕" panose="020B0503020000020004" pitchFamily="50" charset="-127"/>
              </a:rPr>
              <a:t>영동</a:t>
            </a:r>
            <a:r>
              <a:rPr lang="en-US" altLang="ko-KR" sz="1000">
                <a:solidFill>
                  <a:srgbClr val="FFFFFF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000">
                <a:solidFill>
                  <a:srgbClr val="FFFFFF"/>
                </a:solidFill>
                <a:latin typeface="맑은 고딕" panose="020B0503020000020004" pitchFamily="50" charset="-127"/>
              </a:rPr>
              <a:t>중부 고속도로
</a:t>
            </a:r>
            <a:r>
              <a:rPr lang="en-US" altLang="ko-KR" sz="1000">
                <a:solidFill>
                  <a:srgbClr val="FFFFFF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000">
                <a:solidFill>
                  <a:srgbClr val="FFFFFF"/>
                </a:solidFill>
                <a:latin typeface="맑은 고딕" panose="020B0503020000020004" pitchFamily="50" charset="-127"/>
              </a:rPr>
              <a:t>분석 항목</a:t>
            </a:r>
            <a:r>
              <a:rPr lang="en-US" altLang="ko-KR" sz="1000">
                <a:solidFill>
                  <a:srgbClr val="FFFFFF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000">
                <a:solidFill>
                  <a:srgbClr val="FFFFFF"/>
                </a:solidFill>
                <a:latin typeface="맑은 고딕" panose="020B0503020000020004" pitchFamily="50" charset="-127"/>
              </a:rPr>
              <a:t>발생 시각</a:t>
            </a:r>
            <a:r>
              <a:rPr lang="en-US" altLang="ko-KR" sz="1000">
                <a:solidFill>
                  <a:srgbClr val="FFFFFF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00">
                <a:solidFill>
                  <a:srgbClr val="FFFFFF"/>
                </a:solidFill>
                <a:latin typeface="맑은 고딕" panose="020B0503020000020004" pitchFamily="50" charset="-127"/>
              </a:rPr>
              <a:t>구간</a:t>
            </a:r>
            <a:r>
              <a:rPr lang="en-US" altLang="ko-KR" sz="1000">
                <a:solidFill>
                  <a:srgbClr val="FFFFFF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00">
                <a:solidFill>
                  <a:srgbClr val="FFFFFF"/>
                </a:solidFill>
                <a:latin typeface="맑은 고딕" panose="020B0503020000020004" pitchFamily="50" charset="-127"/>
              </a:rPr>
              <a:t>정체 길이</a:t>
            </a:r>
            <a:r>
              <a:rPr lang="en-US" altLang="ko-KR" sz="1000">
                <a:solidFill>
                  <a:srgbClr val="FFFFFF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00">
                <a:solidFill>
                  <a:srgbClr val="FFFFFF"/>
                </a:solidFill>
                <a:latin typeface="맑은 고딕" panose="020B0503020000020004" pitchFamily="50" charset="-127"/>
              </a:rPr>
              <a:t>지속 시간</a:t>
            </a:r>
            <a:r>
              <a:rPr lang="en-US" altLang="ko-KR" sz="1000">
                <a:solidFill>
                  <a:srgbClr val="FFFFFF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00">
                <a:solidFill>
                  <a:srgbClr val="FFFFFF"/>
                </a:solidFill>
                <a:latin typeface="맑은 고딕" panose="020B0503020000020004" pitchFamily="50" charset="-127"/>
              </a:rPr>
              <a:t>원인
</a:t>
            </a:r>
            <a:r>
              <a:rPr lang="en-US" altLang="ko-KR" sz="1000">
                <a:solidFill>
                  <a:srgbClr val="FFFFFF"/>
                </a:solidFill>
                <a:latin typeface="맑은 고딕" panose="020B0503020000020004" pitchFamily="50" charset="-127"/>
              </a:rPr>
              <a:t>• </a:t>
            </a:r>
            <a:r>
              <a:rPr lang="ko-KR" altLang="en-US" sz="1000">
                <a:solidFill>
                  <a:srgbClr val="FFFFFF"/>
                </a:solidFill>
                <a:latin typeface="맑은 고딕" panose="020B0503020000020004" pitchFamily="50" charset="-127"/>
              </a:rPr>
              <a:t>총 정체 이벤트</a:t>
            </a:r>
            <a:r>
              <a:rPr lang="en-US" altLang="ko-KR" sz="1000">
                <a:solidFill>
                  <a:srgbClr val="FFFFFF"/>
                </a:solidFill>
                <a:latin typeface="맑은 고딕" panose="020B0503020000020004" pitchFamily="50" charset="-127"/>
              </a:rPr>
              <a:t>: 120</a:t>
            </a:r>
            <a:r>
              <a:rPr lang="ko-KR" altLang="en-US" sz="1000">
                <a:solidFill>
                  <a:srgbClr val="FFFFFF"/>
                </a:solidFill>
                <a:latin typeface="맑은 고딕" panose="020B0503020000020004" pitchFamily="50" charset="-127"/>
              </a:rPr>
              <a:t>건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F983B98-DFFB-64AD-9AF1-00A210ACE520}"/>
              </a:ext>
            </a:extLst>
          </p:cNvPr>
          <p:cNvSpPr/>
          <p:nvPr/>
        </p:nvSpPr>
        <p:spPr>
          <a:xfrm>
            <a:off x="6273800" y="2743200"/>
            <a:ext cx="5613400" cy="1651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3B81303-4AB4-7B6B-B7B3-ABE312678EB0}"/>
              </a:ext>
            </a:extLst>
          </p:cNvPr>
          <p:cNvSpPr txBox="1"/>
          <p:nvPr/>
        </p:nvSpPr>
        <p:spPr>
          <a:xfrm>
            <a:off x="6426200" y="2844800"/>
            <a:ext cx="330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b="1">
                <a:solidFill>
                  <a:srgbClr val="94A3B8"/>
                </a:solidFill>
                <a:latin typeface="맑은 고딕" panose="020B0503020000020004" pitchFamily="50" charset="-127"/>
              </a:rPr>
              <a:t>📊  노선별 발생 비율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FD03172-1701-98F8-EDBD-EA4A8726DE8B}"/>
              </a:ext>
            </a:extLst>
          </p:cNvPr>
          <p:cNvSpPr txBox="1"/>
          <p:nvPr/>
        </p:nvSpPr>
        <p:spPr>
          <a:xfrm>
            <a:off x="6426200" y="3124200"/>
            <a:ext cx="139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800">
                <a:solidFill>
                  <a:srgbClr val="CBD5E1"/>
                </a:solidFill>
                <a:latin typeface="맑은 고딕" panose="020B0503020000020004" pitchFamily="50" charset="-127"/>
              </a:rPr>
              <a:t>경부고속도로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7E6A525-1305-5740-7DDF-8F8B9CF8DC2B}"/>
              </a:ext>
            </a:extLst>
          </p:cNvPr>
          <p:cNvSpPr/>
          <p:nvPr/>
        </p:nvSpPr>
        <p:spPr>
          <a:xfrm>
            <a:off x="7823200" y="3149600"/>
            <a:ext cx="3048000" cy="1524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67E08EE-5BB4-5818-66CF-B48F2C1980B7}"/>
              </a:ext>
            </a:extLst>
          </p:cNvPr>
          <p:cNvSpPr txBox="1"/>
          <p:nvPr/>
        </p:nvSpPr>
        <p:spPr>
          <a:xfrm>
            <a:off x="10922000" y="3124200"/>
            <a:ext cx="50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800" b="1">
                <a:solidFill>
                  <a:srgbClr val="3B82F6"/>
                </a:solidFill>
                <a:latin typeface="맑은 고딕" panose="020B0503020000020004" pitchFamily="50" charset="-127"/>
              </a:rPr>
              <a:t>48</a:t>
            </a:r>
            <a:r>
              <a:rPr lang="ko-KR" altLang="en-US" sz="800" b="1">
                <a:solidFill>
                  <a:srgbClr val="3B82F6"/>
                </a:solidFill>
                <a:latin typeface="맑은 고딕" panose="020B0503020000020004" pitchFamily="50" charset="-127"/>
              </a:rPr>
              <a:t>건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CAA712-DC90-1CB2-94B0-A92D4AE03893}"/>
              </a:ext>
            </a:extLst>
          </p:cNvPr>
          <p:cNvSpPr txBox="1"/>
          <p:nvPr/>
        </p:nvSpPr>
        <p:spPr>
          <a:xfrm>
            <a:off x="6426200" y="3365500"/>
            <a:ext cx="139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800">
                <a:solidFill>
                  <a:srgbClr val="CBD5E1"/>
                </a:solidFill>
                <a:latin typeface="맑은 고딕" panose="020B0503020000020004" pitchFamily="50" charset="-127"/>
              </a:rPr>
              <a:t>영동고속도로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BCE239C-144E-E979-12DF-408EDC76D921}"/>
              </a:ext>
            </a:extLst>
          </p:cNvPr>
          <p:cNvSpPr/>
          <p:nvPr/>
        </p:nvSpPr>
        <p:spPr>
          <a:xfrm>
            <a:off x="7823200" y="3390900"/>
            <a:ext cx="1714500" cy="152400"/>
          </a:xfrm>
          <a:prstGeom prst="rect">
            <a:avLst/>
          </a:prstGeom>
          <a:solidFill>
            <a:srgbClr val="22C55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C8F22A7-0CB2-8973-A98B-8C3DEE6C977C}"/>
              </a:ext>
            </a:extLst>
          </p:cNvPr>
          <p:cNvSpPr txBox="1"/>
          <p:nvPr/>
        </p:nvSpPr>
        <p:spPr>
          <a:xfrm>
            <a:off x="9588500" y="3365500"/>
            <a:ext cx="50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800" b="1">
                <a:solidFill>
                  <a:srgbClr val="22C55E"/>
                </a:solidFill>
                <a:latin typeface="맑은 고딕" panose="020B0503020000020004" pitchFamily="50" charset="-127"/>
              </a:rPr>
              <a:t>27</a:t>
            </a:r>
            <a:r>
              <a:rPr lang="ko-KR" altLang="en-US" sz="800" b="1">
                <a:solidFill>
                  <a:srgbClr val="22C55E"/>
                </a:solidFill>
                <a:latin typeface="맑은 고딕" panose="020B0503020000020004" pitchFamily="50" charset="-127"/>
              </a:rPr>
              <a:t>건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1978B6-C4CB-61A5-F707-4F3419DB814D}"/>
              </a:ext>
            </a:extLst>
          </p:cNvPr>
          <p:cNvSpPr txBox="1"/>
          <p:nvPr/>
        </p:nvSpPr>
        <p:spPr>
          <a:xfrm>
            <a:off x="6426200" y="3606800"/>
            <a:ext cx="139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800">
                <a:solidFill>
                  <a:srgbClr val="CBD5E1"/>
                </a:solidFill>
                <a:latin typeface="맑은 고딕" panose="020B0503020000020004" pitchFamily="50" charset="-127"/>
              </a:rPr>
              <a:t>서해안고속도로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50DFA90-6145-C4B2-1691-60DE83913F4B}"/>
              </a:ext>
            </a:extLst>
          </p:cNvPr>
          <p:cNvSpPr/>
          <p:nvPr/>
        </p:nvSpPr>
        <p:spPr>
          <a:xfrm>
            <a:off x="7823200" y="3632200"/>
            <a:ext cx="1460500" cy="1524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EE550FF-83BD-DEC6-F734-82203FC02C3F}"/>
              </a:ext>
            </a:extLst>
          </p:cNvPr>
          <p:cNvSpPr txBox="1"/>
          <p:nvPr/>
        </p:nvSpPr>
        <p:spPr>
          <a:xfrm>
            <a:off x="9334500" y="3606800"/>
            <a:ext cx="50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800" b="1">
                <a:solidFill>
                  <a:srgbClr val="F59E0B"/>
                </a:solidFill>
                <a:latin typeface="맑은 고딕" panose="020B0503020000020004" pitchFamily="50" charset="-127"/>
              </a:rPr>
              <a:t>23</a:t>
            </a:r>
            <a:r>
              <a:rPr lang="ko-KR" altLang="en-US" sz="800" b="1">
                <a:solidFill>
                  <a:srgbClr val="F59E0B"/>
                </a:solidFill>
                <a:latin typeface="맑은 고딕" panose="020B0503020000020004" pitchFamily="50" charset="-127"/>
              </a:rPr>
              <a:t>건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0A6168-048D-E387-8D01-8FEEB14DFE1B}"/>
              </a:ext>
            </a:extLst>
          </p:cNvPr>
          <p:cNvSpPr txBox="1"/>
          <p:nvPr/>
        </p:nvSpPr>
        <p:spPr>
          <a:xfrm>
            <a:off x="6426200" y="3848100"/>
            <a:ext cx="139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800">
                <a:solidFill>
                  <a:srgbClr val="CBD5E1"/>
                </a:solidFill>
                <a:latin typeface="맑은 고딕" panose="020B0503020000020004" pitchFamily="50" charset="-127"/>
              </a:rPr>
              <a:t>중부고속도로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299FBDD-EC91-8FB5-1121-1151430718AE}"/>
              </a:ext>
            </a:extLst>
          </p:cNvPr>
          <p:cNvSpPr/>
          <p:nvPr/>
        </p:nvSpPr>
        <p:spPr>
          <a:xfrm>
            <a:off x="7823200" y="3873500"/>
            <a:ext cx="825500" cy="152400"/>
          </a:xfrm>
          <a:prstGeom prst="rect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64789A9-ADD4-FBE0-6611-A7219CF01026}"/>
              </a:ext>
            </a:extLst>
          </p:cNvPr>
          <p:cNvSpPr txBox="1"/>
          <p:nvPr/>
        </p:nvSpPr>
        <p:spPr>
          <a:xfrm>
            <a:off x="8699500" y="3848100"/>
            <a:ext cx="50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800" b="1">
                <a:solidFill>
                  <a:srgbClr val="8B5CF6"/>
                </a:solidFill>
                <a:latin typeface="맑은 고딕" panose="020B0503020000020004" pitchFamily="50" charset="-127"/>
              </a:rPr>
              <a:t>13</a:t>
            </a:r>
            <a:r>
              <a:rPr lang="ko-KR" altLang="en-US" sz="800" b="1">
                <a:solidFill>
                  <a:srgbClr val="8B5CF6"/>
                </a:solidFill>
                <a:latin typeface="맑은 고딕" panose="020B0503020000020004" pitchFamily="50" charset="-127"/>
              </a:rPr>
              <a:t>건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32D217B-1929-31F1-1BF6-A499D326152B}"/>
              </a:ext>
            </a:extLst>
          </p:cNvPr>
          <p:cNvSpPr txBox="1"/>
          <p:nvPr/>
        </p:nvSpPr>
        <p:spPr>
          <a:xfrm>
            <a:off x="6426200" y="4089400"/>
            <a:ext cx="139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800">
                <a:solidFill>
                  <a:srgbClr val="CBD5E1"/>
                </a:solidFill>
                <a:latin typeface="맑은 고딕" panose="020B0503020000020004" pitchFamily="50" charset="-127"/>
              </a:rPr>
              <a:t>남해고속도로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C44FA6CE-625D-6626-3888-BD50EF1AFD4D}"/>
              </a:ext>
            </a:extLst>
          </p:cNvPr>
          <p:cNvSpPr/>
          <p:nvPr/>
        </p:nvSpPr>
        <p:spPr>
          <a:xfrm>
            <a:off x="7823200" y="4114800"/>
            <a:ext cx="571500" cy="152400"/>
          </a:xfrm>
          <a:prstGeom prst="rect">
            <a:avLst/>
          </a:prstGeom>
          <a:solidFill>
            <a:srgbClr val="F973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C6F227A-7E53-7DE1-252D-196065D0440A}"/>
              </a:ext>
            </a:extLst>
          </p:cNvPr>
          <p:cNvSpPr txBox="1"/>
          <p:nvPr/>
        </p:nvSpPr>
        <p:spPr>
          <a:xfrm>
            <a:off x="8445500" y="4089400"/>
            <a:ext cx="50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800" b="1">
                <a:solidFill>
                  <a:srgbClr val="F97316"/>
                </a:solidFill>
                <a:latin typeface="맑은 고딕" panose="020B0503020000020004" pitchFamily="50" charset="-127"/>
              </a:rPr>
              <a:t>9</a:t>
            </a:r>
            <a:r>
              <a:rPr lang="ko-KR" altLang="en-US" sz="800" b="1">
                <a:solidFill>
                  <a:srgbClr val="F97316"/>
                </a:solidFill>
                <a:latin typeface="맑은 고딕" panose="020B0503020000020004" pitchFamily="50" charset="-127"/>
              </a:rPr>
              <a:t>건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EEAE55F-7131-B3D1-A3E2-A765B59B5F04}"/>
              </a:ext>
            </a:extLst>
          </p:cNvPr>
          <p:cNvSpPr/>
          <p:nvPr/>
        </p:nvSpPr>
        <p:spPr>
          <a:xfrm>
            <a:off x="304800" y="4597400"/>
            <a:ext cx="11582400" cy="1651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377FBF3-F90A-A029-2235-4CFBE410CA33}"/>
              </a:ext>
            </a:extLst>
          </p:cNvPr>
          <p:cNvSpPr txBox="1"/>
          <p:nvPr/>
        </p:nvSpPr>
        <p:spPr>
          <a:xfrm>
            <a:off x="457200" y="4699000"/>
            <a:ext cx="317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b="1">
                <a:solidFill>
                  <a:srgbClr val="94A3B8"/>
                </a:solidFill>
                <a:latin typeface="맑은 고딕" panose="020B0503020000020004" pitchFamily="50" charset="-127"/>
              </a:rPr>
              <a:t>💡  핵심 인사이트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B3F3F71-71D0-183C-3906-078873246CEA}"/>
              </a:ext>
            </a:extLst>
          </p:cNvPr>
          <p:cNvSpPr txBox="1"/>
          <p:nvPr/>
        </p:nvSpPr>
        <p:spPr>
          <a:xfrm>
            <a:off x="381000" y="4953000"/>
            <a:ext cx="2768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경부고속도로 집중</a:t>
            </a:r>
            <a:r>
              <a:rPr lang="en-US" altLang="ko-KR" sz="900">
                <a:solidFill>
                  <a:srgbClr val="FFFFFF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전체의 </a:t>
            </a:r>
            <a:r>
              <a:rPr lang="en-US" altLang="ko-KR" sz="900">
                <a:solidFill>
                  <a:srgbClr val="FFFFFF"/>
                </a:solidFill>
                <a:latin typeface="맑은 고딕" panose="020B0503020000020004" pitchFamily="50" charset="-127"/>
              </a:rPr>
              <a:t>40%(48</a:t>
            </a:r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건</a:t>
            </a:r>
            <a:r>
              <a:rPr lang="en-US" altLang="ko-KR" sz="900">
                <a:solidFill>
                  <a:srgbClr val="FFFFFF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로 가장 많은 정체 발생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880E4FD-01C2-848D-65C4-92142B1A69EE}"/>
              </a:ext>
            </a:extLst>
          </p:cNvPr>
          <p:cNvSpPr txBox="1"/>
          <p:nvPr/>
        </p:nvSpPr>
        <p:spPr>
          <a:xfrm>
            <a:off x="3276600" y="4953000"/>
            <a:ext cx="2768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주말</a:t>
            </a:r>
            <a:r>
              <a:rPr lang="en-US" altLang="ko-KR" sz="900">
                <a:solidFill>
                  <a:srgbClr val="FFFFFF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행사 취약</a:t>
            </a:r>
            <a:r>
              <a:rPr lang="en-US" altLang="ko-KR" sz="900">
                <a:solidFill>
                  <a:srgbClr val="FFFFFF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행사</a:t>
            </a:r>
            <a:r>
              <a:rPr lang="en-US" altLang="ko-KR" sz="900">
                <a:solidFill>
                  <a:srgbClr val="FFFFFF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주말정체 원인이 평균 </a:t>
            </a:r>
            <a:r>
              <a:rPr lang="en-US" altLang="ko-KR" sz="900">
                <a:solidFill>
                  <a:srgbClr val="FFFFFF"/>
                </a:solidFill>
                <a:latin typeface="맑은 고딕" panose="020B0503020000020004" pitchFamily="50" charset="-127"/>
              </a:rPr>
              <a:t>73</a:t>
            </a:r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분 이상 지속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F27FD30-F15B-6542-CD82-242711BCA5B3}"/>
              </a:ext>
            </a:extLst>
          </p:cNvPr>
          <p:cNvSpPr txBox="1"/>
          <p:nvPr/>
        </p:nvSpPr>
        <p:spPr>
          <a:xfrm>
            <a:off x="6172200" y="4953000"/>
            <a:ext cx="2768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저속 구간</a:t>
            </a:r>
            <a:r>
              <a:rPr lang="en-US" altLang="ko-KR" sz="900">
                <a:solidFill>
                  <a:srgbClr val="FFFFFF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서해안고속도로 목감</a:t>
            </a:r>
            <a:r>
              <a:rPr lang="en-US" altLang="ko-KR" sz="900">
                <a:solidFill>
                  <a:srgbClr val="FFFFFF"/>
                </a:solidFill>
                <a:latin typeface="맑은 고딕" panose="020B0503020000020004" pitchFamily="50" charset="-127"/>
              </a:rPr>
              <a:t>IC-</a:t>
            </a:r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당진</a:t>
            </a:r>
            <a:r>
              <a:rPr lang="en-US" altLang="ko-KR" sz="900">
                <a:solidFill>
                  <a:srgbClr val="FFFFFF"/>
                </a:solidFill>
                <a:latin typeface="맑은 고딕" panose="020B0503020000020004" pitchFamily="50" charset="-127"/>
              </a:rPr>
              <a:t>IC </a:t>
            </a:r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구간 반복 정체 다수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D7B8F1F-B94C-94AA-1980-DFC7FB162B2B}"/>
              </a:ext>
            </a:extLst>
          </p:cNvPr>
          <p:cNvSpPr txBox="1"/>
          <p:nvPr/>
        </p:nvSpPr>
        <p:spPr>
          <a:xfrm>
            <a:off x="9067800" y="4953000"/>
            <a:ext cx="2768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최장 정체</a:t>
            </a:r>
            <a:r>
              <a:rPr lang="en-US" altLang="ko-KR" sz="900">
                <a:solidFill>
                  <a:srgbClr val="FFFFFF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영동고속도로 신갈</a:t>
            </a:r>
            <a:r>
              <a:rPr lang="en-US" altLang="ko-KR" sz="900">
                <a:solidFill>
                  <a:srgbClr val="FFFFFF"/>
                </a:solidFill>
                <a:latin typeface="맑은 고딕" panose="020B0503020000020004" pitchFamily="50" charset="-127"/>
              </a:rPr>
              <a:t>JC-</a:t>
            </a:r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이천</a:t>
            </a:r>
            <a:r>
              <a:rPr lang="en-US" altLang="ko-KR" sz="900">
                <a:solidFill>
                  <a:srgbClr val="FFFFFF"/>
                </a:solidFill>
                <a:latin typeface="맑은 고딕" panose="020B0503020000020004" pitchFamily="50" charset="-127"/>
              </a:rPr>
              <a:t>IC </a:t>
            </a:r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행사로 </a:t>
            </a:r>
            <a:r>
              <a:rPr lang="en-US" altLang="ko-KR" sz="900">
                <a:solidFill>
                  <a:srgbClr val="FFFFFF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시간 발생</a:t>
            </a:r>
          </a:p>
        </p:txBody>
      </p:sp>
    </p:spTree>
    <p:extLst>
      <p:ext uri="{BB962C8B-B14F-4D97-AF65-F5344CB8AC3E}">
        <p14:creationId xmlns:p14="http://schemas.microsoft.com/office/powerpoint/2010/main" val="1209013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2E20E22-2C8A-CE3D-A593-9075F0E50C43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61B3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2B8B5B-8DFF-05FD-FBD7-B36C61454157}"/>
              </a:ext>
            </a:extLst>
          </p:cNvPr>
          <p:cNvSpPr txBox="1"/>
          <p:nvPr/>
        </p:nvSpPr>
        <p:spPr>
          <a:xfrm>
            <a:off x="254000" y="152400"/>
            <a:ext cx="889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000" b="1">
                <a:solidFill>
                  <a:srgbClr val="FFFFFF"/>
                </a:solidFill>
                <a:latin typeface="맑은 고딕" panose="020B0503020000020004" pitchFamily="50" charset="-127"/>
              </a:rPr>
              <a:t>노선별 정체 발생 현황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EF1941-48D0-C981-CFCA-31AB2AB259FE}"/>
              </a:ext>
            </a:extLst>
          </p:cNvPr>
          <p:cNvSpPr txBox="1"/>
          <p:nvPr/>
        </p:nvSpPr>
        <p:spPr>
          <a:xfrm>
            <a:off x="254000" y="558800"/>
            <a:ext cx="889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>
                <a:solidFill>
                  <a:srgbClr val="94A3B8"/>
                </a:solidFill>
                <a:latin typeface="맑은 고딕" panose="020B0503020000020004" pitchFamily="50" charset="-127"/>
              </a:rPr>
              <a:t>노선별 발생 건수 </a:t>
            </a:r>
            <a:r>
              <a:rPr lang="en-US" altLang="ko-KR" sz="1100">
                <a:solidFill>
                  <a:srgbClr val="94A3B8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100">
                <a:solidFill>
                  <a:srgbClr val="94A3B8"/>
                </a:solidFill>
                <a:latin typeface="맑은 고딕" panose="020B0503020000020004" pitchFamily="50" charset="-127"/>
              </a:rPr>
              <a:t>평균 정체길이 </a:t>
            </a:r>
            <a:r>
              <a:rPr lang="en-US" altLang="ko-KR" sz="1100">
                <a:solidFill>
                  <a:srgbClr val="94A3B8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100">
                <a:solidFill>
                  <a:srgbClr val="94A3B8"/>
                </a:solidFill>
                <a:latin typeface="맑은 고딕" panose="020B0503020000020004" pitchFamily="50" charset="-127"/>
              </a:rPr>
              <a:t>평균 지속시간 비교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5A89DB-3CB0-9932-9170-1304CF951F18}"/>
              </a:ext>
            </a:extLst>
          </p:cNvPr>
          <p:cNvSpPr txBox="1"/>
          <p:nvPr/>
        </p:nvSpPr>
        <p:spPr>
          <a:xfrm>
            <a:off x="10414000" y="254000"/>
            <a:ext cx="165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1100" b="1">
                <a:solidFill>
                  <a:srgbClr val="94A3B8"/>
                </a:solidFill>
                <a:latin typeface="맑은 고딕" panose="020B0503020000020004" pitchFamily="50" charset="-127"/>
              </a:rPr>
              <a:t>한국도로공사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ECE76A-940E-EBEB-B7D9-3401602FB239}"/>
              </a:ext>
            </a:extLst>
          </p:cNvPr>
          <p:cNvSpPr txBox="1"/>
          <p:nvPr/>
        </p:nvSpPr>
        <p:spPr>
          <a:xfrm>
            <a:off x="304800" y="10160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b="1">
                <a:solidFill>
                  <a:srgbClr val="94A3B8"/>
                </a:solidFill>
                <a:latin typeface="맑은 고딕" panose="020B0503020000020004" pitchFamily="50" charset="-127"/>
              </a:rPr>
              <a:t>▌ 노선별 발생 건수 </a:t>
            </a:r>
            <a:r>
              <a:rPr lang="en-US" altLang="ko-KR" sz="1100" b="1">
                <a:solidFill>
                  <a:srgbClr val="94A3B8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00" b="1">
                <a:solidFill>
                  <a:srgbClr val="94A3B8"/>
                </a:solidFill>
                <a:latin typeface="맑은 고딕" panose="020B0503020000020004" pitchFamily="50" charset="-127"/>
              </a:rPr>
              <a:t>건</a:t>
            </a:r>
            <a:r>
              <a:rPr lang="en-US" altLang="ko-KR" sz="1100" b="1">
                <a:solidFill>
                  <a:srgbClr val="94A3B8"/>
                </a:solidFill>
                <a:latin typeface="맑은 고딕" panose="020B0503020000020004" pitchFamily="50" charset="-127"/>
              </a:rPr>
              <a:t>)</a:t>
            </a:r>
            <a:endParaRPr lang="ko-KR" altLang="en-US" sz="1100" b="1">
              <a:solidFill>
                <a:srgbClr val="94A3B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17D3D1-C23F-B63D-55D1-77FE3FCEA828}"/>
              </a:ext>
            </a:extLst>
          </p:cNvPr>
          <p:cNvSpPr txBox="1"/>
          <p:nvPr/>
        </p:nvSpPr>
        <p:spPr>
          <a:xfrm>
            <a:off x="304800" y="1346200"/>
            <a:ext cx="152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경부고속도로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3DA32AE-8E6A-CF64-44B7-DEAAFC56E47F}"/>
              </a:ext>
            </a:extLst>
          </p:cNvPr>
          <p:cNvSpPr/>
          <p:nvPr/>
        </p:nvSpPr>
        <p:spPr>
          <a:xfrm>
            <a:off x="1854200" y="1358900"/>
            <a:ext cx="4572000" cy="2286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A1D381-ABFE-9FA5-DB2A-E6A239B33646}"/>
              </a:ext>
            </a:extLst>
          </p:cNvPr>
          <p:cNvSpPr txBox="1"/>
          <p:nvPr/>
        </p:nvSpPr>
        <p:spPr>
          <a:xfrm>
            <a:off x="6477000" y="1333500"/>
            <a:ext cx="63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900" b="1">
                <a:solidFill>
                  <a:srgbClr val="3B82F6"/>
                </a:solidFill>
                <a:latin typeface="맑은 고딕" panose="020B0503020000020004" pitchFamily="50" charset="-127"/>
              </a:rPr>
              <a:t>48</a:t>
            </a:r>
            <a:r>
              <a:rPr lang="ko-KR" altLang="en-US" sz="900" b="1">
                <a:solidFill>
                  <a:srgbClr val="3B82F6"/>
                </a:solidFill>
                <a:latin typeface="맑은 고딕" panose="020B0503020000020004" pitchFamily="50" charset="-127"/>
              </a:rPr>
              <a:t>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0C90F7-2B45-357E-FA71-263D109E12A1}"/>
              </a:ext>
            </a:extLst>
          </p:cNvPr>
          <p:cNvSpPr txBox="1"/>
          <p:nvPr/>
        </p:nvSpPr>
        <p:spPr>
          <a:xfrm>
            <a:off x="304800" y="1930400"/>
            <a:ext cx="152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영동고속도로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E5E716C-9C1C-3958-7D14-8790F946FC5D}"/>
              </a:ext>
            </a:extLst>
          </p:cNvPr>
          <p:cNvSpPr/>
          <p:nvPr/>
        </p:nvSpPr>
        <p:spPr>
          <a:xfrm>
            <a:off x="1854200" y="1943100"/>
            <a:ext cx="2565400" cy="228600"/>
          </a:xfrm>
          <a:prstGeom prst="rect">
            <a:avLst/>
          </a:prstGeom>
          <a:solidFill>
            <a:srgbClr val="22C55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C5FFC8-D4C2-63D7-4EE1-2FA75A846775}"/>
              </a:ext>
            </a:extLst>
          </p:cNvPr>
          <p:cNvSpPr txBox="1"/>
          <p:nvPr/>
        </p:nvSpPr>
        <p:spPr>
          <a:xfrm>
            <a:off x="4470400" y="1917700"/>
            <a:ext cx="63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900" b="1">
                <a:solidFill>
                  <a:srgbClr val="22C55E"/>
                </a:solidFill>
                <a:latin typeface="맑은 고딕" panose="020B0503020000020004" pitchFamily="50" charset="-127"/>
              </a:rPr>
              <a:t>27</a:t>
            </a:r>
            <a:r>
              <a:rPr lang="ko-KR" altLang="en-US" sz="900" b="1">
                <a:solidFill>
                  <a:srgbClr val="22C55E"/>
                </a:solidFill>
                <a:latin typeface="맑은 고딕" panose="020B0503020000020004" pitchFamily="50" charset="-127"/>
              </a:rPr>
              <a:t>건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3B44FF-3A1D-DAF5-D898-4209D7E6D437}"/>
              </a:ext>
            </a:extLst>
          </p:cNvPr>
          <p:cNvSpPr txBox="1"/>
          <p:nvPr/>
        </p:nvSpPr>
        <p:spPr>
          <a:xfrm>
            <a:off x="304800" y="2514600"/>
            <a:ext cx="152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서해안고속도로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F9716D-28C3-BCF4-B7E2-B009CA8E77E7}"/>
              </a:ext>
            </a:extLst>
          </p:cNvPr>
          <p:cNvSpPr/>
          <p:nvPr/>
        </p:nvSpPr>
        <p:spPr>
          <a:xfrm>
            <a:off x="1854200" y="2527300"/>
            <a:ext cx="2184400" cy="2286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110B59-0511-A392-2C9C-3E8F03DEFEE7}"/>
              </a:ext>
            </a:extLst>
          </p:cNvPr>
          <p:cNvSpPr txBox="1"/>
          <p:nvPr/>
        </p:nvSpPr>
        <p:spPr>
          <a:xfrm>
            <a:off x="4089400" y="2501900"/>
            <a:ext cx="63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900" b="1">
                <a:solidFill>
                  <a:srgbClr val="F59E0B"/>
                </a:solidFill>
                <a:latin typeface="맑은 고딕" panose="020B0503020000020004" pitchFamily="50" charset="-127"/>
              </a:rPr>
              <a:t>23</a:t>
            </a:r>
            <a:r>
              <a:rPr lang="ko-KR" altLang="en-US" sz="900" b="1">
                <a:solidFill>
                  <a:srgbClr val="F59E0B"/>
                </a:solidFill>
                <a:latin typeface="맑은 고딕" panose="020B0503020000020004" pitchFamily="50" charset="-127"/>
              </a:rPr>
              <a:t>건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AFFE2B-A902-C99B-7B84-042D9FBE7D04}"/>
              </a:ext>
            </a:extLst>
          </p:cNvPr>
          <p:cNvSpPr txBox="1"/>
          <p:nvPr/>
        </p:nvSpPr>
        <p:spPr>
          <a:xfrm>
            <a:off x="304800" y="3098800"/>
            <a:ext cx="152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중부고속도로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DBAC4AE-7719-6CA8-CAAA-B77CED025CD5}"/>
              </a:ext>
            </a:extLst>
          </p:cNvPr>
          <p:cNvSpPr/>
          <p:nvPr/>
        </p:nvSpPr>
        <p:spPr>
          <a:xfrm>
            <a:off x="1854200" y="3111500"/>
            <a:ext cx="1244600" cy="228600"/>
          </a:xfrm>
          <a:prstGeom prst="rect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8C075B-4A6D-95EC-A6C6-C854DB7A22D2}"/>
              </a:ext>
            </a:extLst>
          </p:cNvPr>
          <p:cNvSpPr txBox="1"/>
          <p:nvPr/>
        </p:nvSpPr>
        <p:spPr>
          <a:xfrm>
            <a:off x="3149600" y="3086100"/>
            <a:ext cx="63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900" b="1">
                <a:solidFill>
                  <a:srgbClr val="8B5CF6"/>
                </a:solidFill>
                <a:latin typeface="맑은 고딕" panose="020B0503020000020004" pitchFamily="50" charset="-127"/>
              </a:rPr>
              <a:t>13</a:t>
            </a:r>
            <a:r>
              <a:rPr lang="ko-KR" altLang="en-US" sz="900" b="1">
                <a:solidFill>
                  <a:srgbClr val="8B5CF6"/>
                </a:solidFill>
                <a:latin typeface="맑은 고딕" panose="020B0503020000020004" pitchFamily="50" charset="-127"/>
              </a:rPr>
              <a:t>건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6569FD-AF03-CFDC-3450-62407C849AE2}"/>
              </a:ext>
            </a:extLst>
          </p:cNvPr>
          <p:cNvSpPr txBox="1"/>
          <p:nvPr/>
        </p:nvSpPr>
        <p:spPr>
          <a:xfrm>
            <a:off x="304800" y="3683000"/>
            <a:ext cx="152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남해고속도로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D33F9B9-7783-B357-4F62-F4BF4782FE3E}"/>
              </a:ext>
            </a:extLst>
          </p:cNvPr>
          <p:cNvSpPr/>
          <p:nvPr/>
        </p:nvSpPr>
        <p:spPr>
          <a:xfrm>
            <a:off x="1854200" y="3695700"/>
            <a:ext cx="863600" cy="228600"/>
          </a:xfrm>
          <a:prstGeom prst="rect">
            <a:avLst/>
          </a:prstGeom>
          <a:solidFill>
            <a:srgbClr val="F973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73EEA8-45A1-ACC4-7CA0-577DFF13B0C6}"/>
              </a:ext>
            </a:extLst>
          </p:cNvPr>
          <p:cNvSpPr txBox="1"/>
          <p:nvPr/>
        </p:nvSpPr>
        <p:spPr>
          <a:xfrm>
            <a:off x="2768600" y="3670300"/>
            <a:ext cx="63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900" b="1">
                <a:solidFill>
                  <a:srgbClr val="F97316"/>
                </a:solidFill>
                <a:latin typeface="맑은 고딕" panose="020B0503020000020004" pitchFamily="50" charset="-127"/>
              </a:rPr>
              <a:t>9</a:t>
            </a:r>
            <a:r>
              <a:rPr lang="ko-KR" altLang="en-US" sz="900" b="1">
                <a:solidFill>
                  <a:srgbClr val="F97316"/>
                </a:solidFill>
                <a:latin typeface="맑은 고딕" panose="020B0503020000020004" pitchFamily="50" charset="-127"/>
              </a:rPr>
              <a:t>건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4CD7FF3-9744-F79B-8CBB-55C076090A4C}"/>
              </a:ext>
            </a:extLst>
          </p:cNvPr>
          <p:cNvSpPr/>
          <p:nvPr/>
        </p:nvSpPr>
        <p:spPr>
          <a:xfrm>
            <a:off x="6477000" y="1016000"/>
            <a:ext cx="25400" cy="45720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C93D1B-5BF1-1110-4416-FF499A875A4B}"/>
              </a:ext>
            </a:extLst>
          </p:cNvPr>
          <p:cNvSpPr txBox="1"/>
          <p:nvPr/>
        </p:nvSpPr>
        <p:spPr>
          <a:xfrm>
            <a:off x="6680200" y="10160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b="1">
                <a:solidFill>
                  <a:srgbClr val="94A3B8"/>
                </a:solidFill>
                <a:latin typeface="맑은 고딕" panose="020B0503020000020004" pitchFamily="50" charset="-127"/>
              </a:rPr>
              <a:t>▌ 노선별 상세 지표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23E981D-6BDB-4819-BB45-E3B1171841D0}"/>
              </a:ext>
            </a:extLst>
          </p:cNvPr>
          <p:cNvSpPr/>
          <p:nvPr/>
        </p:nvSpPr>
        <p:spPr>
          <a:xfrm>
            <a:off x="6680200" y="1320800"/>
            <a:ext cx="5207000" cy="304800"/>
          </a:xfrm>
          <a:prstGeom prst="rect">
            <a:avLst/>
          </a:prstGeom>
          <a:solidFill>
            <a:srgbClr val="061B3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A00495-880D-3D92-62D8-98685F8E54AC}"/>
              </a:ext>
            </a:extLst>
          </p:cNvPr>
          <p:cNvSpPr txBox="1"/>
          <p:nvPr/>
        </p:nvSpPr>
        <p:spPr>
          <a:xfrm>
            <a:off x="6731000" y="1358900"/>
            <a:ext cx="127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 b="1">
                <a:solidFill>
                  <a:srgbClr val="94A3B8"/>
                </a:solidFill>
                <a:latin typeface="맑은 고딕" panose="020B0503020000020004" pitchFamily="50" charset="-127"/>
              </a:rPr>
              <a:t>노선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0F627E8-24BB-1F7F-1591-89926A757D1D}"/>
              </a:ext>
            </a:extLst>
          </p:cNvPr>
          <p:cNvSpPr txBox="1"/>
          <p:nvPr/>
        </p:nvSpPr>
        <p:spPr>
          <a:xfrm>
            <a:off x="8255000" y="1358900"/>
            <a:ext cx="76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900" b="1">
                <a:solidFill>
                  <a:srgbClr val="94A3B8"/>
                </a:solidFill>
                <a:latin typeface="맑은 고딕" panose="020B0503020000020004" pitchFamily="50" charset="-127"/>
              </a:rPr>
              <a:t>건수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DED03E-5590-079B-41ED-A5E19F94C90F}"/>
              </a:ext>
            </a:extLst>
          </p:cNvPr>
          <p:cNvSpPr txBox="1"/>
          <p:nvPr/>
        </p:nvSpPr>
        <p:spPr>
          <a:xfrm>
            <a:off x="9093200" y="1358900"/>
            <a:ext cx="127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900" b="1">
                <a:solidFill>
                  <a:srgbClr val="94A3B8"/>
                </a:solidFill>
                <a:latin typeface="맑은 고딕" panose="020B0503020000020004" pitchFamily="50" charset="-127"/>
              </a:rPr>
              <a:t>평균 정체</a:t>
            </a:r>
            <a:r>
              <a:rPr lang="en-US" altLang="ko-KR" sz="900" b="1">
                <a:solidFill>
                  <a:srgbClr val="94A3B8"/>
                </a:solidFill>
                <a:latin typeface="맑은 고딕" panose="020B0503020000020004" pitchFamily="50" charset="-127"/>
              </a:rPr>
              <a:t>(km)</a:t>
            </a:r>
            <a:endParaRPr lang="ko-KR" altLang="en-US" sz="900" b="1">
              <a:solidFill>
                <a:srgbClr val="94A3B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1F2A89B-C4E1-81FC-D67F-8F141FE7C08F}"/>
              </a:ext>
            </a:extLst>
          </p:cNvPr>
          <p:cNvSpPr txBox="1"/>
          <p:nvPr/>
        </p:nvSpPr>
        <p:spPr>
          <a:xfrm>
            <a:off x="10490200" y="1358900"/>
            <a:ext cx="127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900" b="1">
                <a:solidFill>
                  <a:srgbClr val="94A3B8"/>
                </a:solidFill>
                <a:latin typeface="맑은 고딕" panose="020B0503020000020004" pitchFamily="50" charset="-127"/>
              </a:rPr>
              <a:t>평균 지속</a:t>
            </a:r>
            <a:r>
              <a:rPr lang="en-US" altLang="ko-KR" sz="900" b="1">
                <a:solidFill>
                  <a:srgbClr val="94A3B8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b="1">
                <a:solidFill>
                  <a:srgbClr val="94A3B8"/>
                </a:solidFill>
                <a:latin typeface="맑은 고딕" panose="020B0503020000020004" pitchFamily="50" charset="-127"/>
              </a:rPr>
              <a:t>분</a:t>
            </a:r>
            <a:r>
              <a:rPr lang="en-US" altLang="ko-KR" sz="900" b="1">
                <a:solidFill>
                  <a:srgbClr val="94A3B8"/>
                </a:solidFill>
                <a:latin typeface="맑은 고딕" panose="020B0503020000020004" pitchFamily="50" charset="-127"/>
              </a:rPr>
              <a:t>)</a:t>
            </a:r>
            <a:endParaRPr lang="ko-KR" altLang="en-US" sz="900" b="1">
              <a:solidFill>
                <a:srgbClr val="94A3B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B191E53-757D-1DD5-AAC4-F911A2FAD943}"/>
              </a:ext>
            </a:extLst>
          </p:cNvPr>
          <p:cNvSpPr/>
          <p:nvPr/>
        </p:nvSpPr>
        <p:spPr>
          <a:xfrm>
            <a:off x="6680200" y="1625600"/>
            <a:ext cx="5207000" cy="5588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0597B82-2A3A-1729-3171-007E778982D1}"/>
              </a:ext>
            </a:extLst>
          </p:cNvPr>
          <p:cNvSpPr/>
          <p:nvPr/>
        </p:nvSpPr>
        <p:spPr>
          <a:xfrm>
            <a:off x="6680200" y="1625600"/>
            <a:ext cx="50800" cy="5588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9BCE532-D8FB-4ECF-4067-5EAF26833AB5}"/>
              </a:ext>
            </a:extLst>
          </p:cNvPr>
          <p:cNvSpPr txBox="1"/>
          <p:nvPr/>
        </p:nvSpPr>
        <p:spPr>
          <a:xfrm>
            <a:off x="6781800" y="1778000"/>
            <a:ext cx="1422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경부고속도로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E5C6893-6DAC-7ADC-8D76-F207346A3527}"/>
              </a:ext>
            </a:extLst>
          </p:cNvPr>
          <p:cNvSpPr txBox="1"/>
          <p:nvPr/>
        </p:nvSpPr>
        <p:spPr>
          <a:xfrm>
            <a:off x="8255000" y="1778000"/>
            <a:ext cx="787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900" b="1">
                <a:solidFill>
                  <a:srgbClr val="3B82F6"/>
                </a:solidFill>
                <a:latin typeface="맑은 고딕" panose="020B0503020000020004" pitchFamily="50" charset="-127"/>
              </a:rPr>
              <a:t>48</a:t>
            </a:r>
            <a:r>
              <a:rPr lang="ko-KR" altLang="en-US" sz="900" b="1">
                <a:solidFill>
                  <a:srgbClr val="3B82F6"/>
                </a:solidFill>
                <a:latin typeface="맑은 고딕" panose="020B0503020000020004" pitchFamily="50" charset="-127"/>
              </a:rPr>
              <a:t>건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BE14EB2-70ED-3506-B503-FAFD0D1750C4}"/>
              </a:ext>
            </a:extLst>
          </p:cNvPr>
          <p:cNvSpPr txBox="1"/>
          <p:nvPr/>
        </p:nvSpPr>
        <p:spPr>
          <a:xfrm>
            <a:off x="9093200" y="1778000"/>
            <a:ext cx="1346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900">
                <a:solidFill>
                  <a:srgbClr val="FFFFFF"/>
                </a:solidFill>
                <a:latin typeface="맑은 고딕" panose="020B0503020000020004" pitchFamily="50" charset="-127"/>
              </a:rPr>
              <a:t>4 km</a:t>
            </a:r>
            <a:endParaRPr lang="ko-KR" altLang="en-US" sz="900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C3098F0-FFAD-5D1E-A5AC-EB7CE95329AF}"/>
              </a:ext>
            </a:extLst>
          </p:cNvPr>
          <p:cNvSpPr txBox="1"/>
          <p:nvPr/>
        </p:nvSpPr>
        <p:spPr>
          <a:xfrm>
            <a:off x="10490200" y="1778000"/>
            <a:ext cx="1346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900">
                <a:solidFill>
                  <a:srgbClr val="FFFFFF"/>
                </a:solidFill>
                <a:latin typeface="맑은 고딕" panose="020B0503020000020004" pitchFamily="50" charset="-127"/>
              </a:rPr>
              <a:t>53 </a:t>
            </a:r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분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CD1BC72-DEE9-5F12-0CB5-40AB52ABD7C7}"/>
              </a:ext>
            </a:extLst>
          </p:cNvPr>
          <p:cNvSpPr/>
          <p:nvPr/>
        </p:nvSpPr>
        <p:spPr>
          <a:xfrm>
            <a:off x="6680200" y="2209800"/>
            <a:ext cx="5207000" cy="558800"/>
          </a:xfrm>
          <a:prstGeom prst="rect">
            <a:avLst/>
          </a:prstGeom>
          <a:solidFill>
            <a:srgbClr val="0A0F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858B12B-E697-D061-277F-31713881A0BC}"/>
              </a:ext>
            </a:extLst>
          </p:cNvPr>
          <p:cNvSpPr/>
          <p:nvPr/>
        </p:nvSpPr>
        <p:spPr>
          <a:xfrm>
            <a:off x="6680200" y="2209800"/>
            <a:ext cx="50800" cy="558800"/>
          </a:xfrm>
          <a:prstGeom prst="rect">
            <a:avLst/>
          </a:prstGeom>
          <a:solidFill>
            <a:srgbClr val="22C55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4FC15A9-1E40-9A12-4303-4053293363F3}"/>
              </a:ext>
            </a:extLst>
          </p:cNvPr>
          <p:cNvSpPr txBox="1"/>
          <p:nvPr/>
        </p:nvSpPr>
        <p:spPr>
          <a:xfrm>
            <a:off x="6781800" y="2362200"/>
            <a:ext cx="1422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영동고속도로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0426FD0-608F-3452-FAA0-BE148B87C088}"/>
              </a:ext>
            </a:extLst>
          </p:cNvPr>
          <p:cNvSpPr txBox="1"/>
          <p:nvPr/>
        </p:nvSpPr>
        <p:spPr>
          <a:xfrm>
            <a:off x="8255000" y="2362200"/>
            <a:ext cx="787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900" b="1">
                <a:solidFill>
                  <a:srgbClr val="22C55E"/>
                </a:solidFill>
                <a:latin typeface="맑은 고딕" panose="020B0503020000020004" pitchFamily="50" charset="-127"/>
              </a:rPr>
              <a:t>27</a:t>
            </a:r>
            <a:r>
              <a:rPr lang="ko-KR" altLang="en-US" sz="900" b="1">
                <a:solidFill>
                  <a:srgbClr val="22C55E"/>
                </a:solidFill>
                <a:latin typeface="맑은 고딕" panose="020B0503020000020004" pitchFamily="50" charset="-127"/>
              </a:rPr>
              <a:t>건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D4C5B73-C7C6-19A5-9B4D-DB3BADE5F9B0}"/>
              </a:ext>
            </a:extLst>
          </p:cNvPr>
          <p:cNvSpPr txBox="1"/>
          <p:nvPr/>
        </p:nvSpPr>
        <p:spPr>
          <a:xfrm>
            <a:off x="9093200" y="2362200"/>
            <a:ext cx="1346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900">
                <a:solidFill>
                  <a:srgbClr val="FFFFFF"/>
                </a:solidFill>
                <a:latin typeface="맑은 고딕" panose="020B0503020000020004" pitchFamily="50" charset="-127"/>
              </a:rPr>
              <a:t>3.2 km</a:t>
            </a:r>
            <a:endParaRPr lang="ko-KR" altLang="en-US" sz="900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4FEEAC0-F5C3-C5AE-23E6-841FD536A5B1}"/>
              </a:ext>
            </a:extLst>
          </p:cNvPr>
          <p:cNvSpPr txBox="1"/>
          <p:nvPr/>
        </p:nvSpPr>
        <p:spPr>
          <a:xfrm>
            <a:off x="10490200" y="2362200"/>
            <a:ext cx="1346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900">
                <a:solidFill>
                  <a:srgbClr val="FFFFFF"/>
                </a:solidFill>
                <a:latin typeface="맑은 고딕" panose="020B0503020000020004" pitchFamily="50" charset="-127"/>
              </a:rPr>
              <a:t>62.9 </a:t>
            </a:r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분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04A31B7-56FD-8808-0354-E742897D868A}"/>
              </a:ext>
            </a:extLst>
          </p:cNvPr>
          <p:cNvSpPr/>
          <p:nvPr/>
        </p:nvSpPr>
        <p:spPr>
          <a:xfrm>
            <a:off x="6680200" y="2794000"/>
            <a:ext cx="5207000" cy="5588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5159781-0939-20D5-C56C-4D43F1AC20D5}"/>
              </a:ext>
            </a:extLst>
          </p:cNvPr>
          <p:cNvSpPr/>
          <p:nvPr/>
        </p:nvSpPr>
        <p:spPr>
          <a:xfrm>
            <a:off x="6680200" y="2794000"/>
            <a:ext cx="50800" cy="5588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3FB7368-22E9-6FD9-D79D-2B5BCEB1200E}"/>
              </a:ext>
            </a:extLst>
          </p:cNvPr>
          <p:cNvSpPr txBox="1"/>
          <p:nvPr/>
        </p:nvSpPr>
        <p:spPr>
          <a:xfrm>
            <a:off x="6781800" y="2946400"/>
            <a:ext cx="1422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서해안고속도로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8D9A8B5-7502-D60C-2595-B48CF63A98CF}"/>
              </a:ext>
            </a:extLst>
          </p:cNvPr>
          <p:cNvSpPr txBox="1"/>
          <p:nvPr/>
        </p:nvSpPr>
        <p:spPr>
          <a:xfrm>
            <a:off x="8255000" y="2946400"/>
            <a:ext cx="787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900" b="1">
                <a:solidFill>
                  <a:srgbClr val="F59E0B"/>
                </a:solidFill>
                <a:latin typeface="맑은 고딕" panose="020B0503020000020004" pitchFamily="50" charset="-127"/>
              </a:rPr>
              <a:t>23</a:t>
            </a:r>
            <a:r>
              <a:rPr lang="ko-KR" altLang="en-US" sz="900" b="1">
                <a:solidFill>
                  <a:srgbClr val="F59E0B"/>
                </a:solidFill>
                <a:latin typeface="맑은 고딕" panose="020B0503020000020004" pitchFamily="50" charset="-127"/>
              </a:rPr>
              <a:t>건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6BADC4F-3643-166B-14C3-727E517CF06B}"/>
              </a:ext>
            </a:extLst>
          </p:cNvPr>
          <p:cNvSpPr txBox="1"/>
          <p:nvPr/>
        </p:nvSpPr>
        <p:spPr>
          <a:xfrm>
            <a:off x="9093200" y="2946400"/>
            <a:ext cx="1346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900">
                <a:solidFill>
                  <a:srgbClr val="FFFFFF"/>
                </a:solidFill>
                <a:latin typeface="맑은 고딕" panose="020B0503020000020004" pitchFamily="50" charset="-127"/>
              </a:rPr>
              <a:t>4.2 km</a:t>
            </a:r>
            <a:endParaRPr lang="ko-KR" altLang="en-US" sz="900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57C26FC-3A9B-0424-A053-2A352B3FD3C6}"/>
              </a:ext>
            </a:extLst>
          </p:cNvPr>
          <p:cNvSpPr txBox="1"/>
          <p:nvPr/>
        </p:nvSpPr>
        <p:spPr>
          <a:xfrm>
            <a:off x="10490200" y="2946400"/>
            <a:ext cx="1346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900">
                <a:solidFill>
                  <a:srgbClr val="FFFFFF"/>
                </a:solidFill>
                <a:latin typeface="맑은 고딕" panose="020B0503020000020004" pitchFamily="50" charset="-127"/>
              </a:rPr>
              <a:t>69.5 </a:t>
            </a:r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분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F559290-26F8-5D0F-298E-EC2C47A0D8EF}"/>
              </a:ext>
            </a:extLst>
          </p:cNvPr>
          <p:cNvSpPr/>
          <p:nvPr/>
        </p:nvSpPr>
        <p:spPr>
          <a:xfrm>
            <a:off x="6680200" y="3378200"/>
            <a:ext cx="5207000" cy="558800"/>
          </a:xfrm>
          <a:prstGeom prst="rect">
            <a:avLst/>
          </a:prstGeom>
          <a:solidFill>
            <a:srgbClr val="0A0F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B1125E60-E918-76BA-F9C8-E989D38A171D}"/>
              </a:ext>
            </a:extLst>
          </p:cNvPr>
          <p:cNvSpPr/>
          <p:nvPr/>
        </p:nvSpPr>
        <p:spPr>
          <a:xfrm>
            <a:off x="6680200" y="3378200"/>
            <a:ext cx="50800" cy="558800"/>
          </a:xfrm>
          <a:prstGeom prst="rect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2CF3985-FB04-0C42-6AC1-AFF693EBC241}"/>
              </a:ext>
            </a:extLst>
          </p:cNvPr>
          <p:cNvSpPr txBox="1"/>
          <p:nvPr/>
        </p:nvSpPr>
        <p:spPr>
          <a:xfrm>
            <a:off x="6781800" y="3530600"/>
            <a:ext cx="1422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중부고속도로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C5E30D7-E755-276B-08DA-104B73944FCF}"/>
              </a:ext>
            </a:extLst>
          </p:cNvPr>
          <p:cNvSpPr txBox="1"/>
          <p:nvPr/>
        </p:nvSpPr>
        <p:spPr>
          <a:xfrm>
            <a:off x="8255000" y="3530600"/>
            <a:ext cx="787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900" b="1">
                <a:solidFill>
                  <a:srgbClr val="8B5CF6"/>
                </a:solidFill>
                <a:latin typeface="맑은 고딕" panose="020B0503020000020004" pitchFamily="50" charset="-127"/>
              </a:rPr>
              <a:t>13</a:t>
            </a:r>
            <a:r>
              <a:rPr lang="ko-KR" altLang="en-US" sz="900" b="1">
                <a:solidFill>
                  <a:srgbClr val="8B5CF6"/>
                </a:solidFill>
                <a:latin typeface="맑은 고딕" panose="020B0503020000020004" pitchFamily="50" charset="-127"/>
              </a:rPr>
              <a:t>건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CF95D57-2EBC-D749-229F-CD4AE5CCB377}"/>
              </a:ext>
            </a:extLst>
          </p:cNvPr>
          <p:cNvSpPr txBox="1"/>
          <p:nvPr/>
        </p:nvSpPr>
        <p:spPr>
          <a:xfrm>
            <a:off x="9093200" y="3530600"/>
            <a:ext cx="1346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900">
                <a:solidFill>
                  <a:srgbClr val="FFFFFF"/>
                </a:solidFill>
                <a:latin typeface="맑은 고딕" panose="020B0503020000020004" pitchFamily="50" charset="-127"/>
              </a:rPr>
              <a:t>3.5 km</a:t>
            </a:r>
            <a:endParaRPr lang="ko-KR" altLang="en-US" sz="900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A239B82-19AC-128F-026F-E27EAD0F1AA5}"/>
              </a:ext>
            </a:extLst>
          </p:cNvPr>
          <p:cNvSpPr txBox="1"/>
          <p:nvPr/>
        </p:nvSpPr>
        <p:spPr>
          <a:xfrm>
            <a:off x="10490200" y="3530600"/>
            <a:ext cx="1346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900">
                <a:solidFill>
                  <a:srgbClr val="FFFFFF"/>
                </a:solidFill>
                <a:latin typeface="맑은 고딕" panose="020B0503020000020004" pitchFamily="50" charset="-127"/>
              </a:rPr>
              <a:t>53.8 </a:t>
            </a:r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분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CE95224-C9EE-753D-2CE8-2C777793473F}"/>
              </a:ext>
            </a:extLst>
          </p:cNvPr>
          <p:cNvSpPr/>
          <p:nvPr/>
        </p:nvSpPr>
        <p:spPr>
          <a:xfrm>
            <a:off x="6680200" y="3962400"/>
            <a:ext cx="5207000" cy="5588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B01ED1ED-5971-EE76-4319-49ADFCED2008}"/>
              </a:ext>
            </a:extLst>
          </p:cNvPr>
          <p:cNvSpPr/>
          <p:nvPr/>
        </p:nvSpPr>
        <p:spPr>
          <a:xfrm>
            <a:off x="6680200" y="3962400"/>
            <a:ext cx="50800" cy="558800"/>
          </a:xfrm>
          <a:prstGeom prst="rect">
            <a:avLst/>
          </a:prstGeom>
          <a:solidFill>
            <a:srgbClr val="F973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3C0ED22-1AC7-06B5-5B01-3871BD5B1EAF}"/>
              </a:ext>
            </a:extLst>
          </p:cNvPr>
          <p:cNvSpPr txBox="1"/>
          <p:nvPr/>
        </p:nvSpPr>
        <p:spPr>
          <a:xfrm>
            <a:off x="6781800" y="4114800"/>
            <a:ext cx="1422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남해고속도로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3B4C213-2E78-538C-F6BA-E77995EC5F90}"/>
              </a:ext>
            </a:extLst>
          </p:cNvPr>
          <p:cNvSpPr txBox="1"/>
          <p:nvPr/>
        </p:nvSpPr>
        <p:spPr>
          <a:xfrm>
            <a:off x="8255000" y="4114800"/>
            <a:ext cx="787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900" b="1">
                <a:solidFill>
                  <a:srgbClr val="F97316"/>
                </a:solidFill>
                <a:latin typeface="맑은 고딕" panose="020B0503020000020004" pitchFamily="50" charset="-127"/>
              </a:rPr>
              <a:t>9</a:t>
            </a:r>
            <a:r>
              <a:rPr lang="ko-KR" altLang="en-US" sz="900" b="1">
                <a:solidFill>
                  <a:srgbClr val="F97316"/>
                </a:solidFill>
                <a:latin typeface="맑은 고딕" panose="020B0503020000020004" pitchFamily="50" charset="-127"/>
              </a:rPr>
              <a:t>건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81D4B87-D7B9-519C-FE9F-8C14610496AB}"/>
              </a:ext>
            </a:extLst>
          </p:cNvPr>
          <p:cNvSpPr txBox="1"/>
          <p:nvPr/>
        </p:nvSpPr>
        <p:spPr>
          <a:xfrm>
            <a:off x="9093200" y="4114800"/>
            <a:ext cx="1346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900">
                <a:solidFill>
                  <a:srgbClr val="FFFFFF"/>
                </a:solidFill>
                <a:latin typeface="맑은 고딕" panose="020B0503020000020004" pitchFamily="50" charset="-127"/>
              </a:rPr>
              <a:t>2.7 km</a:t>
            </a:r>
            <a:endParaRPr lang="ko-KR" altLang="en-US" sz="900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8865E03-98C3-2E90-610F-93C1106803C2}"/>
              </a:ext>
            </a:extLst>
          </p:cNvPr>
          <p:cNvSpPr txBox="1"/>
          <p:nvPr/>
        </p:nvSpPr>
        <p:spPr>
          <a:xfrm>
            <a:off x="10490200" y="4114800"/>
            <a:ext cx="1346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900">
                <a:solidFill>
                  <a:srgbClr val="FFFFFF"/>
                </a:solidFill>
                <a:latin typeface="맑은 고딕" panose="020B0503020000020004" pitchFamily="50" charset="-127"/>
              </a:rPr>
              <a:t>74.2 </a:t>
            </a:r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분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DC4B3692-47E1-D77D-EB4E-EC2CCBEA1926}"/>
              </a:ext>
            </a:extLst>
          </p:cNvPr>
          <p:cNvSpPr/>
          <p:nvPr/>
        </p:nvSpPr>
        <p:spPr>
          <a:xfrm>
            <a:off x="304800" y="4572000"/>
            <a:ext cx="5867400" cy="1524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B65BA3C-1A78-19B8-0E4E-377592E6576F}"/>
              </a:ext>
            </a:extLst>
          </p:cNvPr>
          <p:cNvSpPr txBox="1"/>
          <p:nvPr/>
        </p:nvSpPr>
        <p:spPr>
          <a:xfrm>
            <a:off x="457200" y="4699000"/>
            <a:ext cx="5562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>
                <a:solidFill>
                  <a:srgbClr val="CBD5E1"/>
                </a:solidFill>
                <a:latin typeface="맑은 고딕" panose="020B0503020000020004" pitchFamily="50" charset="-127"/>
              </a:rPr>
              <a:t>경부고속도로는 전체의 </a:t>
            </a:r>
            <a:r>
              <a:rPr lang="en-US" altLang="ko-KR" sz="900">
                <a:solidFill>
                  <a:srgbClr val="CBD5E1"/>
                </a:solidFill>
                <a:latin typeface="맑은 고딕" panose="020B0503020000020004" pitchFamily="50" charset="-127"/>
              </a:rPr>
              <a:t>40% </a:t>
            </a:r>
            <a:r>
              <a:rPr lang="ko-KR" altLang="en-US" sz="900">
                <a:solidFill>
                  <a:srgbClr val="CBD5E1"/>
                </a:solidFill>
                <a:latin typeface="맑은 고딕" panose="020B0503020000020004" pitchFamily="50" charset="-127"/>
              </a:rPr>
              <a:t>차지</a:t>
            </a:r>
            <a:r>
              <a:rPr lang="en-US" altLang="ko-KR" sz="900">
                <a:solidFill>
                  <a:srgbClr val="CBD5E1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900">
                <a:solidFill>
                  <a:srgbClr val="CBD5E1"/>
                </a:solidFill>
                <a:latin typeface="맑은 고딕" panose="020B0503020000020004" pitchFamily="50" charset="-127"/>
              </a:rPr>
              <a:t>남해고속도로는 건수가 적으나 평균 지속시간이 </a:t>
            </a:r>
            <a:r>
              <a:rPr lang="en-US" altLang="ko-KR" sz="900">
                <a:solidFill>
                  <a:srgbClr val="CBD5E1"/>
                </a:solidFill>
                <a:latin typeface="맑은 고딕" panose="020B0503020000020004" pitchFamily="50" charset="-127"/>
              </a:rPr>
              <a:t>74</a:t>
            </a:r>
            <a:r>
              <a:rPr lang="ko-KR" altLang="en-US" sz="900">
                <a:solidFill>
                  <a:srgbClr val="CBD5E1"/>
                </a:solidFill>
                <a:latin typeface="맑은 고딕" panose="020B0503020000020004" pitchFamily="50" charset="-127"/>
              </a:rPr>
              <a:t>분으로 가장 길어 질적 심각도 높음</a:t>
            </a:r>
            <a:r>
              <a:rPr lang="en-US" altLang="ko-KR" sz="900">
                <a:solidFill>
                  <a:srgbClr val="CBD5E1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900">
                <a:solidFill>
                  <a:srgbClr val="CBD5E1"/>
                </a:solidFill>
                <a:latin typeface="맑은 고딕" panose="020B0503020000020004" pitchFamily="50" charset="-127"/>
              </a:rPr>
              <a:t>서해안고속도로는 평균 정체길이 </a:t>
            </a:r>
            <a:r>
              <a:rPr lang="en-US" altLang="ko-KR" sz="900">
                <a:solidFill>
                  <a:srgbClr val="CBD5E1"/>
                </a:solidFill>
                <a:latin typeface="맑은 고딕" panose="020B0503020000020004" pitchFamily="50" charset="-127"/>
              </a:rPr>
              <a:t>4.2km</a:t>
            </a:r>
            <a:r>
              <a:rPr lang="ko-KR" altLang="en-US" sz="900">
                <a:solidFill>
                  <a:srgbClr val="CBD5E1"/>
                </a:solidFill>
                <a:latin typeface="맑은 고딕" panose="020B0503020000020004" pitchFamily="50" charset="-127"/>
              </a:rPr>
              <a:t>로 공간적 확산 규모가 큼</a:t>
            </a:r>
            <a:r>
              <a:rPr lang="en-US" altLang="ko-KR" sz="900">
                <a:solidFill>
                  <a:srgbClr val="CBD5E1"/>
                </a:solidFill>
                <a:latin typeface="맑은 고딕" panose="020B0503020000020004" pitchFamily="50" charset="-127"/>
              </a:rPr>
              <a:t>.</a:t>
            </a:r>
            <a:endParaRPr lang="ko-KR" altLang="en-US" sz="900">
              <a:solidFill>
                <a:srgbClr val="CBD5E1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9159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9AE53CE-7881-55E8-D224-4DCAF29543E5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61B3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87DE59-0DA3-2929-E42C-DF106F72D93C}"/>
              </a:ext>
            </a:extLst>
          </p:cNvPr>
          <p:cNvSpPr txBox="1"/>
          <p:nvPr/>
        </p:nvSpPr>
        <p:spPr>
          <a:xfrm>
            <a:off x="254000" y="152400"/>
            <a:ext cx="889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000" b="1">
                <a:solidFill>
                  <a:srgbClr val="FFFFFF"/>
                </a:solidFill>
                <a:latin typeface="맑은 고딕" panose="020B0503020000020004" pitchFamily="50" charset="-127"/>
              </a:rPr>
              <a:t>정체 원인별 분석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C35E12-F97B-BE94-E998-9D2930EA6A94}"/>
              </a:ext>
            </a:extLst>
          </p:cNvPr>
          <p:cNvSpPr txBox="1"/>
          <p:nvPr/>
        </p:nvSpPr>
        <p:spPr>
          <a:xfrm>
            <a:off x="254000" y="558800"/>
            <a:ext cx="889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>
                <a:solidFill>
                  <a:srgbClr val="94A3B8"/>
                </a:solidFill>
                <a:latin typeface="맑은 고딕" panose="020B0503020000020004" pitchFamily="50" charset="-127"/>
              </a:rPr>
              <a:t>원인별 발생 건수 및 평균 지속시간 비교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3A1CAF-B3A4-B54A-66CA-17C9B71A5D28}"/>
              </a:ext>
            </a:extLst>
          </p:cNvPr>
          <p:cNvSpPr txBox="1"/>
          <p:nvPr/>
        </p:nvSpPr>
        <p:spPr>
          <a:xfrm>
            <a:off x="10414000" y="254000"/>
            <a:ext cx="165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1100" b="1">
                <a:solidFill>
                  <a:srgbClr val="94A3B8"/>
                </a:solidFill>
                <a:latin typeface="맑은 고딕" panose="020B0503020000020004" pitchFamily="50" charset="-127"/>
              </a:rPr>
              <a:t>한국도로공사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24EFDA-D383-A2FC-9652-3BB660EBB9F3}"/>
              </a:ext>
            </a:extLst>
          </p:cNvPr>
          <p:cNvSpPr txBox="1"/>
          <p:nvPr/>
        </p:nvSpPr>
        <p:spPr>
          <a:xfrm>
            <a:off x="304800" y="1016000"/>
            <a:ext cx="381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b="1">
                <a:solidFill>
                  <a:srgbClr val="94A3B8"/>
                </a:solidFill>
                <a:latin typeface="맑은 고딕" panose="020B0503020000020004" pitchFamily="50" charset="-127"/>
              </a:rPr>
              <a:t>▌ 원인별 발생 건수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4B78BF-71A2-2F06-6F9B-71FE988D1833}"/>
              </a:ext>
            </a:extLst>
          </p:cNvPr>
          <p:cNvSpPr txBox="1"/>
          <p:nvPr/>
        </p:nvSpPr>
        <p:spPr>
          <a:xfrm>
            <a:off x="304800" y="1346200"/>
            <a:ext cx="114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공사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06E63E2-B31C-680F-6BA4-D5E031915380}"/>
              </a:ext>
            </a:extLst>
          </p:cNvPr>
          <p:cNvSpPr/>
          <p:nvPr/>
        </p:nvSpPr>
        <p:spPr>
          <a:xfrm>
            <a:off x="1524000" y="1358900"/>
            <a:ext cx="3556000" cy="2286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8704D7-81EB-3CC4-4D83-3FEAA76F9F92}"/>
              </a:ext>
            </a:extLst>
          </p:cNvPr>
          <p:cNvSpPr txBox="1"/>
          <p:nvPr/>
        </p:nvSpPr>
        <p:spPr>
          <a:xfrm>
            <a:off x="5130800" y="1333500"/>
            <a:ext cx="50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900" b="1">
                <a:solidFill>
                  <a:srgbClr val="F59E0B"/>
                </a:solidFill>
                <a:latin typeface="맑은 고딕" panose="020B0503020000020004" pitchFamily="50" charset="-127"/>
              </a:rPr>
              <a:t>25</a:t>
            </a:r>
            <a:r>
              <a:rPr lang="ko-KR" altLang="en-US" sz="900" b="1">
                <a:solidFill>
                  <a:srgbClr val="F59E0B"/>
                </a:solidFill>
                <a:latin typeface="맑은 고딕" panose="020B0503020000020004" pitchFamily="50" charset="-127"/>
              </a:rPr>
              <a:t>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3F3942-4F29-837C-529A-3332F40A85AA}"/>
              </a:ext>
            </a:extLst>
          </p:cNvPr>
          <p:cNvSpPr txBox="1"/>
          <p:nvPr/>
        </p:nvSpPr>
        <p:spPr>
          <a:xfrm>
            <a:off x="304800" y="1854200"/>
            <a:ext cx="114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행사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226136D-5649-F9C7-271A-DB2CA9E6DE0A}"/>
              </a:ext>
            </a:extLst>
          </p:cNvPr>
          <p:cNvSpPr/>
          <p:nvPr/>
        </p:nvSpPr>
        <p:spPr>
          <a:xfrm>
            <a:off x="1524000" y="1866900"/>
            <a:ext cx="3276600" cy="228600"/>
          </a:xfrm>
          <a:prstGeom prst="rect">
            <a:avLst/>
          </a:prstGeom>
          <a:solidFill>
            <a:srgbClr val="F973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57E54C-59FC-33F4-08B3-4987323BB384}"/>
              </a:ext>
            </a:extLst>
          </p:cNvPr>
          <p:cNvSpPr txBox="1"/>
          <p:nvPr/>
        </p:nvSpPr>
        <p:spPr>
          <a:xfrm>
            <a:off x="4851400" y="1841500"/>
            <a:ext cx="50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900" b="1">
                <a:solidFill>
                  <a:srgbClr val="F97316"/>
                </a:solidFill>
                <a:latin typeface="맑은 고딕" panose="020B0503020000020004" pitchFamily="50" charset="-127"/>
              </a:rPr>
              <a:t>23</a:t>
            </a:r>
            <a:r>
              <a:rPr lang="ko-KR" altLang="en-US" sz="900" b="1">
                <a:solidFill>
                  <a:srgbClr val="F97316"/>
                </a:solidFill>
                <a:latin typeface="맑은 고딕" panose="020B0503020000020004" pitchFamily="50" charset="-127"/>
              </a:rPr>
              <a:t>건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9EDB99-9F24-B5CA-699F-5D1E109B4535}"/>
              </a:ext>
            </a:extLst>
          </p:cNvPr>
          <p:cNvSpPr txBox="1"/>
          <p:nvPr/>
        </p:nvSpPr>
        <p:spPr>
          <a:xfrm>
            <a:off x="304800" y="2362200"/>
            <a:ext cx="114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교통량 증가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C6D7995-BE85-3C4F-56E3-D6A3ECD829B0}"/>
              </a:ext>
            </a:extLst>
          </p:cNvPr>
          <p:cNvSpPr/>
          <p:nvPr/>
        </p:nvSpPr>
        <p:spPr>
          <a:xfrm>
            <a:off x="1524000" y="2374900"/>
            <a:ext cx="3276600" cy="2286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F46D4A-BBBE-7A7D-9721-50DD278BB73C}"/>
              </a:ext>
            </a:extLst>
          </p:cNvPr>
          <p:cNvSpPr txBox="1"/>
          <p:nvPr/>
        </p:nvSpPr>
        <p:spPr>
          <a:xfrm>
            <a:off x="4851400" y="2349500"/>
            <a:ext cx="50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900" b="1">
                <a:solidFill>
                  <a:srgbClr val="3B82F6"/>
                </a:solidFill>
                <a:latin typeface="맑은 고딕" panose="020B0503020000020004" pitchFamily="50" charset="-127"/>
              </a:rPr>
              <a:t>23</a:t>
            </a:r>
            <a:r>
              <a:rPr lang="ko-KR" altLang="en-US" sz="900" b="1">
                <a:solidFill>
                  <a:srgbClr val="3B82F6"/>
                </a:solidFill>
                <a:latin typeface="맑은 고딕" panose="020B0503020000020004" pitchFamily="50" charset="-127"/>
              </a:rPr>
              <a:t>건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D0CEAB-67A6-9098-13F6-2F59550C9E3B}"/>
              </a:ext>
            </a:extLst>
          </p:cNvPr>
          <p:cNvSpPr txBox="1"/>
          <p:nvPr/>
        </p:nvSpPr>
        <p:spPr>
          <a:xfrm>
            <a:off x="304800" y="2870200"/>
            <a:ext cx="114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기상악화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67C88D6-3641-C324-E72A-C8C130082742}"/>
              </a:ext>
            </a:extLst>
          </p:cNvPr>
          <p:cNvSpPr/>
          <p:nvPr/>
        </p:nvSpPr>
        <p:spPr>
          <a:xfrm>
            <a:off x="1524000" y="2882900"/>
            <a:ext cx="2844800" cy="228600"/>
          </a:xfrm>
          <a:prstGeom prst="rect">
            <a:avLst/>
          </a:prstGeom>
          <a:solidFill>
            <a:srgbClr val="06B6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417600-99DF-FE16-A60C-1ACD2C4E1D06}"/>
              </a:ext>
            </a:extLst>
          </p:cNvPr>
          <p:cNvSpPr txBox="1"/>
          <p:nvPr/>
        </p:nvSpPr>
        <p:spPr>
          <a:xfrm>
            <a:off x="4419600" y="2857500"/>
            <a:ext cx="50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900" b="1">
                <a:solidFill>
                  <a:srgbClr val="06B6D4"/>
                </a:solidFill>
                <a:latin typeface="맑은 고딕" panose="020B0503020000020004" pitchFamily="50" charset="-127"/>
              </a:rPr>
              <a:t>20</a:t>
            </a:r>
            <a:r>
              <a:rPr lang="ko-KR" altLang="en-US" sz="900" b="1">
                <a:solidFill>
                  <a:srgbClr val="06B6D4"/>
                </a:solidFill>
                <a:latin typeface="맑은 고딕" panose="020B0503020000020004" pitchFamily="50" charset="-127"/>
              </a:rPr>
              <a:t>건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38A937-86FE-8614-F96C-622765F568E1}"/>
              </a:ext>
            </a:extLst>
          </p:cNvPr>
          <p:cNvSpPr txBox="1"/>
          <p:nvPr/>
        </p:nvSpPr>
        <p:spPr>
          <a:xfrm>
            <a:off x="304800" y="3378200"/>
            <a:ext cx="114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사고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5AD805B-035E-1064-4205-9F894FF800B4}"/>
              </a:ext>
            </a:extLst>
          </p:cNvPr>
          <p:cNvSpPr/>
          <p:nvPr/>
        </p:nvSpPr>
        <p:spPr>
          <a:xfrm>
            <a:off x="1524000" y="3390900"/>
            <a:ext cx="2565400" cy="228600"/>
          </a:xfrm>
          <a:prstGeom prst="rect">
            <a:avLst/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9F239F-1BB7-578A-CB9C-8697958E650E}"/>
              </a:ext>
            </a:extLst>
          </p:cNvPr>
          <p:cNvSpPr txBox="1"/>
          <p:nvPr/>
        </p:nvSpPr>
        <p:spPr>
          <a:xfrm>
            <a:off x="4140200" y="3365500"/>
            <a:ext cx="50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900" b="1">
                <a:solidFill>
                  <a:srgbClr val="EF4444"/>
                </a:solidFill>
                <a:latin typeface="맑은 고딕" panose="020B0503020000020004" pitchFamily="50" charset="-127"/>
              </a:rPr>
              <a:t>18</a:t>
            </a:r>
            <a:r>
              <a:rPr lang="ko-KR" altLang="en-US" sz="900" b="1">
                <a:solidFill>
                  <a:srgbClr val="EF4444"/>
                </a:solidFill>
                <a:latin typeface="맑은 고딕" panose="020B0503020000020004" pitchFamily="50" charset="-127"/>
              </a:rPr>
              <a:t>건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5D07A3-7EA5-5540-EAB4-30AEC6F0C638}"/>
              </a:ext>
            </a:extLst>
          </p:cNvPr>
          <p:cNvSpPr txBox="1"/>
          <p:nvPr/>
        </p:nvSpPr>
        <p:spPr>
          <a:xfrm>
            <a:off x="304800" y="3886200"/>
            <a:ext cx="114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주말 정체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A5B5A82-589E-C932-B2C4-C674BCF87D06}"/>
              </a:ext>
            </a:extLst>
          </p:cNvPr>
          <p:cNvSpPr/>
          <p:nvPr/>
        </p:nvSpPr>
        <p:spPr>
          <a:xfrm>
            <a:off x="1524000" y="3898900"/>
            <a:ext cx="1562100" cy="228600"/>
          </a:xfrm>
          <a:prstGeom prst="rect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0A3776B-5389-E396-E47C-4C260AFD8F8A}"/>
              </a:ext>
            </a:extLst>
          </p:cNvPr>
          <p:cNvSpPr txBox="1"/>
          <p:nvPr/>
        </p:nvSpPr>
        <p:spPr>
          <a:xfrm>
            <a:off x="3136900" y="3873500"/>
            <a:ext cx="50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900" b="1">
                <a:solidFill>
                  <a:srgbClr val="8B5CF6"/>
                </a:solidFill>
                <a:latin typeface="맑은 고딕" panose="020B0503020000020004" pitchFamily="50" charset="-127"/>
              </a:rPr>
              <a:t>11</a:t>
            </a:r>
            <a:r>
              <a:rPr lang="ko-KR" altLang="en-US" sz="900" b="1">
                <a:solidFill>
                  <a:srgbClr val="8B5CF6"/>
                </a:solidFill>
                <a:latin typeface="맑은 고딕" panose="020B0503020000020004" pitchFamily="50" charset="-127"/>
              </a:rPr>
              <a:t>건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EFEBC6D-D095-A0F7-823B-3DC32433BAD3}"/>
              </a:ext>
            </a:extLst>
          </p:cNvPr>
          <p:cNvSpPr txBox="1"/>
          <p:nvPr/>
        </p:nvSpPr>
        <p:spPr>
          <a:xfrm>
            <a:off x="5588000" y="1016000"/>
            <a:ext cx="431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b="1">
                <a:solidFill>
                  <a:srgbClr val="94A3B8"/>
                </a:solidFill>
                <a:latin typeface="맑은 고딕" panose="020B0503020000020004" pitchFamily="50" charset="-127"/>
              </a:rPr>
              <a:t>▌ 원인별 평균 지속시간 </a:t>
            </a:r>
            <a:r>
              <a:rPr lang="en-US" altLang="ko-KR" sz="1100" b="1">
                <a:solidFill>
                  <a:srgbClr val="94A3B8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00" b="1">
                <a:solidFill>
                  <a:srgbClr val="94A3B8"/>
                </a:solidFill>
                <a:latin typeface="맑은 고딕" panose="020B0503020000020004" pitchFamily="50" charset="-127"/>
              </a:rPr>
              <a:t>분</a:t>
            </a:r>
            <a:r>
              <a:rPr lang="en-US" altLang="ko-KR" sz="1100" b="1">
                <a:solidFill>
                  <a:srgbClr val="94A3B8"/>
                </a:solidFill>
                <a:latin typeface="맑은 고딕" panose="020B0503020000020004" pitchFamily="50" charset="-127"/>
              </a:rPr>
              <a:t>)</a:t>
            </a:r>
            <a:endParaRPr lang="ko-KR" altLang="en-US" sz="1100" b="1">
              <a:solidFill>
                <a:srgbClr val="94A3B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E7AD16-2F8B-2BE2-1564-1196D645AEA7}"/>
              </a:ext>
            </a:extLst>
          </p:cNvPr>
          <p:cNvSpPr txBox="1"/>
          <p:nvPr/>
        </p:nvSpPr>
        <p:spPr>
          <a:xfrm>
            <a:off x="5588000" y="1346200"/>
            <a:ext cx="114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공사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8033675-8277-815E-F93D-BC11B2DF039B}"/>
              </a:ext>
            </a:extLst>
          </p:cNvPr>
          <p:cNvSpPr/>
          <p:nvPr/>
        </p:nvSpPr>
        <p:spPr>
          <a:xfrm>
            <a:off x="6807200" y="1358900"/>
            <a:ext cx="2667000" cy="2286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E0B43D-283B-156C-CF8F-B0F547A62867}"/>
              </a:ext>
            </a:extLst>
          </p:cNvPr>
          <p:cNvSpPr txBox="1"/>
          <p:nvPr/>
        </p:nvSpPr>
        <p:spPr>
          <a:xfrm>
            <a:off x="9525000" y="1333500"/>
            <a:ext cx="63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900" b="1">
                <a:solidFill>
                  <a:srgbClr val="F59E0B"/>
                </a:solidFill>
                <a:latin typeface="맑은 고딕" panose="020B0503020000020004" pitchFamily="50" charset="-127"/>
              </a:rPr>
              <a:t>54.9</a:t>
            </a:r>
            <a:r>
              <a:rPr lang="ko-KR" altLang="en-US" sz="900" b="1">
                <a:solidFill>
                  <a:srgbClr val="F59E0B"/>
                </a:solidFill>
                <a:latin typeface="맑은 고딕" panose="020B0503020000020004" pitchFamily="50" charset="-127"/>
              </a:rPr>
              <a:t>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5675A16-47E4-E1BE-09BD-DCF4260AEE93}"/>
              </a:ext>
            </a:extLst>
          </p:cNvPr>
          <p:cNvSpPr txBox="1"/>
          <p:nvPr/>
        </p:nvSpPr>
        <p:spPr>
          <a:xfrm>
            <a:off x="5588000" y="1854200"/>
            <a:ext cx="114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행사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86198A4-5101-7760-1A19-F14989B74B49}"/>
              </a:ext>
            </a:extLst>
          </p:cNvPr>
          <p:cNvSpPr/>
          <p:nvPr/>
        </p:nvSpPr>
        <p:spPr>
          <a:xfrm>
            <a:off x="6807200" y="1866900"/>
            <a:ext cx="3263900" cy="228600"/>
          </a:xfrm>
          <a:prstGeom prst="rect">
            <a:avLst/>
          </a:prstGeom>
          <a:solidFill>
            <a:srgbClr val="F973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140C75D-BB97-652F-B2FA-3742B492FCB5}"/>
              </a:ext>
            </a:extLst>
          </p:cNvPr>
          <p:cNvSpPr txBox="1"/>
          <p:nvPr/>
        </p:nvSpPr>
        <p:spPr>
          <a:xfrm>
            <a:off x="10121900" y="1841500"/>
            <a:ext cx="63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900" b="1">
                <a:solidFill>
                  <a:srgbClr val="F97316"/>
                </a:solidFill>
                <a:latin typeface="맑은 고딕" panose="020B0503020000020004" pitchFamily="50" charset="-127"/>
              </a:rPr>
              <a:t>67.3</a:t>
            </a:r>
            <a:r>
              <a:rPr lang="ko-KR" altLang="en-US" sz="900" b="1">
                <a:solidFill>
                  <a:srgbClr val="F97316"/>
                </a:solidFill>
                <a:latin typeface="맑은 고딕" panose="020B0503020000020004" pitchFamily="50" charset="-127"/>
              </a:rPr>
              <a:t>분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527D802-BAAC-F04B-7A7D-B4B3F3D99245}"/>
              </a:ext>
            </a:extLst>
          </p:cNvPr>
          <p:cNvSpPr txBox="1"/>
          <p:nvPr/>
        </p:nvSpPr>
        <p:spPr>
          <a:xfrm>
            <a:off x="5588000" y="2362200"/>
            <a:ext cx="114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교통량 증가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C83D691-3EE4-42B0-1356-F02683B190BE}"/>
              </a:ext>
            </a:extLst>
          </p:cNvPr>
          <p:cNvSpPr/>
          <p:nvPr/>
        </p:nvSpPr>
        <p:spPr>
          <a:xfrm>
            <a:off x="6807200" y="2374900"/>
            <a:ext cx="2400300" cy="2286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B986702-CCF7-CC41-1FE4-A3729F772F8C}"/>
              </a:ext>
            </a:extLst>
          </p:cNvPr>
          <p:cNvSpPr txBox="1"/>
          <p:nvPr/>
        </p:nvSpPr>
        <p:spPr>
          <a:xfrm>
            <a:off x="9258300" y="2349500"/>
            <a:ext cx="63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900" b="1">
                <a:solidFill>
                  <a:srgbClr val="3B82F6"/>
                </a:solidFill>
                <a:latin typeface="맑은 고딕" panose="020B0503020000020004" pitchFamily="50" charset="-127"/>
              </a:rPr>
              <a:t>49.3</a:t>
            </a:r>
            <a:r>
              <a:rPr lang="ko-KR" altLang="en-US" sz="900" b="1">
                <a:solidFill>
                  <a:srgbClr val="3B82F6"/>
                </a:solidFill>
                <a:latin typeface="맑은 고딕" panose="020B0503020000020004" pitchFamily="50" charset="-127"/>
              </a:rPr>
              <a:t>분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5D8B7CA-76FE-67FC-E0DF-5E74E1F9D937}"/>
              </a:ext>
            </a:extLst>
          </p:cNvPr>
          <p:cNvSpPr txBox="1"/>
          <p:nvPr/>
        </p:nvSpPr>
        <p:spPr>
          <a:xfrm>
            <a:off x="5588000" y="2870200"/>
            <a:ext cx="114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기상악화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E2332D4-000D-5937-A324-AC10837038B0}"/>
              </a:ext>
            </a:extLst>
          </p:cNvPr>
          <p:cNvSpPr/>
          <p:nvPr/>
        </p:nvSpPr>
        <p:spPr>
          <a:xfrm>
            <a:off x="6807200" y="2882900"/>
            <a:ext cx="3086100" cy="228600"/>
          </a:xfrm>
          <a:prstGeom prst="rect">
            <a:avLst/>
          </a:prstGeom>
          <a:solidFill>
            <a:srgbClr val="06B6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58CDF72-0208-32DA-D497-6BF926C01C04}"/>
              </a:ext>
            </a:extLst>
          </p:cNvPr>
          <p:cNvSpPr txBox="1"/>
          <p:nvPr/>
        </p:nvSpPr>
        <p:spPr>
          <a:xfrm>
            <a:off x="9944100" y="2857500"/>
            <a:ext cx="63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900" b="1">
                <a:solidFill>
                  <a:srgbClr val="06B6D4"/>
                </a:solidFill>
                <a:latin typeface="맑은 고딕" panose="020B0503020000020004" pitchFamily="50" charset="-127"/>
              </a:rPr>
              <a:t>63.6</a:t>
            </a:r>
            <a:r>
              <a:rPr lang="ko-KR" altLang="en-US" sz="900" b="1">
                <a:solidFill>
                  <a:srgbClr val="06B6D4"/>
                </a:solidFill>
                <a:latin typeface="맑은 고딕" panose="020B0503020000020004" pitchFamily="50" charset="-127"/>
              </a:rPr>
              <a:t>분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334399D-B8ED-F0B2-69AC-8E98C1375195}"/>
              </a:ext>
            </a:extLst>
          </p:cNvPr>
          <p:cNvSpPr txBox="1"/>
          <p:nvPr/>
        </p:nvSpPr>
        <p:spPr>
          <a:xfrm>
            <a:off x="5588000" y="3378200"/>
            <a:ext cx="114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사고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B111D53-FC31-88BA-68EC-76D98DA48CF9}"/>
              </a:ext>
            </a:extLst>
          </p:cNvPr>
          <p:cNvSpPr/>
          <p:nvPr/>
        </p:nvSpPr>
        <p:spPr>
          <a:xfrm>
            <a:off x="6807200" y="3390900"/>
            <a:ext cx="2908300" cy="228600"/>
          </a:xfrm>
          <a:prstGeom prst="rect">
            <a:avLst/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00D6B87-95C0-D1AA-3690-6BA5B7649A8B}"/>
              </a:ext>
            </a:extLst>
          </p:cNvPr>
          <p:cNvSpPr txBox="1"/>
          <p:nvPr/>
        </p:nvSpPr>
        <p:spPr>
          <a:xfrm>
            <a:off x="9766300" y="3365500"/>
            <a:ext cx="63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900" b="1">
                <a:solidFill>
                  <a:srgbClr val="EF4444"/>
                </a:solidFill>
                <a:latin typeface="맑은 고딕" panose="020B0503020000020004" pitchFamily="50" charset="-127"/>
              </a:rPr>
              <a:t>59.9</a:t>
            </a:r>
            <a:r>
              <a:rPr lang="ko-KR" altLang="en-US" sz="900" b="1">
                <a:solidFill>
                  <a:srgbClr val="EF4444"/>
                </a:solidFill>
                <a:latin typeface="맑은 고딕" panose="020B0503020000020004" pitchFamily="50" charset="-127"/>
              </a:rPr>
              <a:t>분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E0BE1DE-5C5F-0A0F-4280-BF1089ACC0F7}"/>
              </a:ext>
            </a:extLst>
          </p:cNvPr>
          <p:cNvSpPr txBox="1"/>
          <p:nvPr/>
        </p:nvSpPr>
        <p:spPr>
          <a:xfrm>
            <a:off x="5588000" y="3886200"/>
            <a:ext cx="114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주말 정체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0922AFC-D311-6E2D-C208-A859CD093894}"/>
              </a:ext>
            </a:extLst>
          </p:cNvPr>
          <p:cNvSpPr/>
          <p:nvPr/>
        </p:nvSpPr>
        <p:spPr>
          <a:xfrm>
            <a:off x="6807200" y="3898900"/>
            <a:ext cx="3556000" cy="228600"/>
          </a:xfrm>
          <a:prstGeom prst="rect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568B2DD-7250-3A95-8064-16AEC46E4934}"/>
              </a:ext>
            </a:extLst>
          </p:cNvPr>
          <p:cNvSpPr txBox="1"/>
          <p:nvPr/>
        </p:nvSpPr>
        <p:spPr>
          <a:xfrm>
            <a:off x="10414000" y="3873500"/>
            <a:ext cx="63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900" b="1">
                <a:solidFill>
                  <a:srgbClr val="8B5CF6"/>
                </a:solidFill>
                <a:latin typeface="맑은 고딕" panose="020B0503020000020004" pitchFamily="50" charset="-127"/>
              </a:rPr>
              <a:t>73.2</a:t>
            </a:r>
            <a:r>
              <a:rPr lang="ko-KR" altLang="en-US" sz="900" b="1">
                <a:solidFill>
                  <a:srgbClr val="8B5CF6"/>
                </a:solidFill>
                <a:latin typeface="맑은 고딕" panose="020B0503020000020004" pitchFamily="50" charset="-127"/>
              </a:rPr>
              <a:t>분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6F62A34-1E62-254D-B4FC-4DF4765714C3}"/>
              </a:ext>
            </a:extLst>
          </p:cNvPr>
          <p:cNvSpPr/>
          <p:nvPr/>
        </p:nvSpPr>
        <p:spPr>
          <a:xfrm>
            <a:off x="304800" y="4572000"/>
            <a:ext cx="11582400" cy="1651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7DC1618-F464-6842-5321-889445DDD9A5}"/>
              </a:ext>
            </a:extLst>
          </p:cNvPr>
          <p:cNvSpPr txBox="1"/>
          <p:nvPr/>
        </p:nvSpPr>
        <p:spPr>
          <a:xfrm>
            <a:off x="457200" y="4673600"/>
            <a:ext cx="381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b="1">
                <a:solidFill>
                  <a:srgbClr val="94A3B8"/>
                </a:solidFill>
                <a:latin typeface="맑은 고딕" panose="020B0503020000020004" pitchFamily="50" charset="-127"/>
              </a:rPr>
              <a:t>📌  원인별 핵심 분석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DB2686D-DBC4-767B-FAEF-94C01F7399F6}"/>
              </a:ext>
            </a:extLst>
          </p:cNvPr>
          <p:cNvSpPr txBox="1"/>
          <p:nvPr/>
        </p:nvSpPr>
        <p:spPr>
          <a:xfrm>
            <a:off x="381000" y="4953000"/>
            <a:ext cx="2768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공사 최다 발생</a:t>
            </a:r>
            <a:r>
              <a:rPr lang="en-US" altLang="ko-KR" sz="900">
                <a:solidFill>
                  <a:srgbClr val="FFFFFF"/>
                </a:solidFill>
                <a:latin typeface="맑은 고딕" panose="020B0503020000020004" pitchFamily="50" charset="-127"/>
              </a:rPr>
              <a:t>: 25</a:t>
            </a:r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건</a:t>
            </a:r>
            <a:r>
              <a:rPr lang="en-US" altLang="ko-KR" sz="900">
                <a:solidFill>
                  <a:srgbClr val="FFFFFF"/>
                </a:solidFill>
                <a:latin typeface="맑은 고딕" panose="020B0503020000020004" pitchFamily="50" charset="-127"/>
              </a:rPr>
              <a:t>(21%)</a:t>
            </a:r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으로 계획적 관리 가능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BA4CF50-BF70-0EC4-1F7C-1456147B6CD7}"/>
              </a:ext>
            </a:extLst>
          </p:cNvPr>
          <p:cNvSpPr txBox="1"/>
          <p:nvPr/>
        </p:nvSpPr>
        <p:spPr>
          <a:xfrm>
            <a:off x="3276600" y="4953000"/>
            <a:ext cx="2768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주말 정체 장기화</a:t>
            </a:r>
            <a:r>
              <a:rPr lang="en-US" altLang="ko-KR" sz="900">
                <a:solidFill>
                  <a:srgbClr val="FFFFFF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평균 </a:t>
            </a:r>
            <a:r>
              <a:rPr lang="en-US" altLang="ko-KR" sz="900">
                <a:solidFill>
                  <a:srgbClr val="FFFFFF"/>
                </a:solidFill>
                <a:latin typeface="맑은 고딕" panose="020B0503020000020004" pitchFamily="50" charset="-127"/>
              </a:rPr>
              <a:t>73.2</a:t>
            </a:r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분으로 가장 긴 지속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A1C8250-5D99-2FEB-9D68-614F4B569843}"/>
              </a:ext>
            </a:extLst>
          </p:cNvPr>
          <p:cNvSpPr txBox="1"/>
          <p:nvPr/>
        </p:nvSpPr>
        <p:spPr>
          <a:xfrm>
            <a:off x="6172200" y="4953000"/>
            <a:ext cx="2768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행사 복합 피해</a:t>
            </a:r>
            <a:r>
              <a:rPr lang="en-US" altLang="ko-KR" sz="900">
                <a:solidFill>
                  <a:srgbClr val="FFFFFF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건수</a:t>
            </a:r>
            <a:r>
              <a:rPr lang="en-US" altLang="ko-KR" sz="900">
                <a:solidFill>
                  <a:srgbClr val="FFFFFF"/>
                </a:solidFill>
                <a:latin typeface="맑은 고딕" panose="020B0503020000020004" pitchFamily="50" charset="-127"/>
              </a:rPr>
              <a:t>(23</a:t>
            </a:r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건</a:t>
            </a:r>
            <a:r>
              <a:rPr lang="en-US" altLang="ko-KR" sz="900">
                <a:solidFill>
                  <a:srgbClr val="FFFFFF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와 지속</a:t>
            </a:r>
            <a:r>
              <a:rPr lang="en-US" altLang="ko-KR" sz="900">
                <a:solidFill>
                  <a:srgbClr val="FFFFFF"/>
                </a:solidFill>
                <a:latin typeface="맑은 고딕" panose="020B0503020000020004" pitchFamily="50" charset="-127"/>
              </a:rPr>
              <a:t>(67</a:t>
            </a:r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분</a:t>
            </a:r>
            <a:r>
              <a:rPr lang="en-US" altLang="ko-KR" sz="900">
                <a:solidFill>
                  <a:srgbClr val="FFFFFF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모두 상위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2BB6200-F7D2-F56F-C973-A4DA8070E46D}"/>
              </a:ext>
            </a:extLst>
          </p:cNvPr>
          <p:cNvSpPr txBox="1"/>
          <p:nvPr/>
        </p:nvSpPr>
        <p:spPr>
          <a:xfrm>
            <a:off x="9067800" y="4953000"/>
            <a:ext cx="2768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사고</a:t>
            </a:r>
            <a:r>
              <a:rPr lang="en-US" altLang="ko-KR" sz="900">
                <a:solidFill>
                  <a:srgbClr val="FFFFFF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기상악화</a:t>
            </a:r>
            <a:r>
              <a:rPr lang="en-US" altLang="ko-KR" sz="900">
                <a:solidFill>
                  <a:srgbClr val="FFFFFF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예측 불가 요인으로 즉각 대응 필요</a:t>
            </a:r>
          </a:p>
        </p:txBody>
      </p:sp>
    </p:spTree>
    <p:extLst>
      <p:ext uri="{BB962C8B-B14F-4D97-AF65-F5344CB8AC3E}">
        <p14:creationId xmlns:p14="http://schemas.microsoft.com/office/powerpoint/2010/main" val="3210107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A9F8414-83E4-EA11-AF6F-99BA41008ECC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61B3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FC1C3F-31FB-2CB0-DBA6-5FEECA18FC5B}"/>
              </a:ext>
            </a:extLst>
          </p:cNvPr>
          <p:cNvSpPr txBox="1"/>
          <p:nvPr/>
        </p:nvSpPr>
        <p:spPr>
          <a:xfrm>
            <a:off x="254000" y="152400"/>
            <a:ext cx="889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000" b="1">
                <a:solidFill>
                  <a:srgbClr val="FFFFFF"/>
                </a:solidFill>
                <a:latin typeface="맑은 고딕" panose="020B0503020000020004" pitchFamily="50" charset="-127"/>
              </a:rPr>
              <a:t>주요 정체 구간 </a:t>
            </a:r>
            <a:r>
              <a:rPr lang="en-US" altLang="ko-KR" sz="2000" b="1">
                <a:solidFill>
                  <a:srgbClr val="FFFFFF"/>
                </a:solidFill>
                <a:latin typeface="맑은 고딕" panose="020B0503020000020004" pitchFamily="50" charset="-127"/>
              </a:rPr>
              <a:t>Top 5</a:t>
            </a:r>
            <a:endParaRPr lang="ko-KR" altLang="en-US" sz="20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F1D1CD-BB21-ACEA-EAE0-87C9F6CBDFA4}"/>
              </a:ext>
            </a:extLst>
          </p:cNvPr>
          <p:cNvSpPr txBox="1"/>
          <p:nvPr/>
        </p:nvSpPr>
        <p:spPr>
          <a:xfrm>
            <a:off x="254000" y="558800"/>
            <a:ext cx="889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>
                <a:solidFill>
                  <a:srgbClr val="94A3B8"/>
                </a:solidFill>
                <a:latin typeface="맑은 고딕" panose="020B0503020000020004" pitchFamily="50" charset="-127"/>
              </a:rPr>
              <a:t>지속시간 기준 최대 정체 발생 사례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D27A31-FDA8-4112-78E8-5BE4E4FCFCDE}"/>
              </a:ext>
            </a:extLst>
          </p:cNvPr>
          <p:cNvSpPr txBox="1"/>
          <p:nvPr/>
        </p:nvSpPr>
        <p:spPr>
          <a:xfrm>
            <a:off x="10414000" y="254000"/>
            <a:ext cx="165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1100" b="1">
                <a:solidFill>
                  <a:srgbClr val="94A3B8"/>
                </a:solidFill>
                <a:latin typeface="맑은 고딕" panose="020B0503020000020004" pitchFamily="50" charset="-127"/>
              </a:rPr>
              <a:t>한국도로공사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0653931-B9F6-809A-6086-F72CF271EF96}"/>
              </a:ext>
            </a:extLst>
          </p:cNvPr>
          <p:cNvSpPr/>
          <p:nvPr/>
        </p:nvSpPr>
        <p:spPr>
          <a:xfrm>
            <a:off x="304800" y="1066800"/>
            <a:ext cx="11582400" cy="355600"/>
          </a:xfrm>
          <a:prstGeom prst="rect">
            <a:avLst/>
          </a:prstGeom>
          <a:solidFill>
            <a:srgbClr val="061B3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971CE8-0986-772B-25D5-7C3918DB04C6}"/>
              </a:ext>
            </a:extLst>
          </p:cNvPr>
          <p:cNvSpPr txBox="1"/>
          <p:nvPr/>
        </p:nvSpPr>
        <p:spPr>
          <a:xfrm>
            <a:off x="431800" y="1117600"/>
            <a:ext cx="114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 b="1">
                <a:solidFill>
                  <a:srgbClr val="94A3B8"/>
                </a:solidFill>
                <a:latin typeface="맑은 고딕" panose="020B0503020000020004" pitchFamily="50" charset="-127"/>
              </a:rPr>
              <a:t>순위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57935A-AA0E-2AC8-33F3-CE3C5DCC0284}"/>
              </a:ext>
            </a:extLst>
          </p:cNvPr>
          <p:cNvSpPr txBox="1"/>
          <p:nvPr/>
        </p:nvSpPr>
        <p:spPr>
          <a:xfrm>
            <a:off x="1016000" y="1117600"/>
            <a:ext cx="114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 b="1">
                <a:solidFill>
                  <a:srgbClr val="94A3B8"/>
                </a:solidFill>
                <a:latin typeface="맑은 고딕" panose="020B0503020000020004" pitchFamily="50" charset="-127"/>
              </a:rPr>
              <a:t>발생 일시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E9756A-F00A-4B70-BF40-BC6580BE4432}"/>
              </a:ext>
            </a:extLst>
          </p:cNvPr>
          <p:cNvSpPr txBox="1"/>
          <p:nvPr/>
        </p:nvSpPr>
        <p:spPr>
          <a:xfrm>
            <a:off x="2540000" y="1117600"/>
            <a:ext cx="114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 b="1">
                <a:solidFill>
                  <a:srgbClr val="94A3B8"/>
                </a:solidFill>
                <a:latin typeface="맑은 고딕" panose="020B0503020000020004" pitchFamily="50" charset="-127"/>
              </a:rPr>
              <a:t>노선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C5464D-365D-E18A-05F4-C93024BC7E66}"/>
              </a:ext>
            </a:extLst>
          </p:cNvPr>
          <p:cNvSpPr txBox="1"/>
          <p:nvPr/>
        </p:nvSpPr>
        <p:spPr>
          <a:xfrm>
            <a:off x="4318000" y="1117600"/>
            <a:ext cx="114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 b="1">
                <a:solidFill>
                  <a:srgbClr val="94A3B8"/>
                </a:solidFill>
                <a:latin typeface="맑은 고딕" panose="020B0503020000020004" pitchFamily="50" charset="-127"/>
              </a:rPr>
              <a:t>구간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0C02C8-F612-45D9-5705-9C03D3A00FB0}"/>
              </a:ext>
            </a:extLst>
          </p:cNvPr>
          <p:cNvSpPr txBox="1"/>
          <p:nvPr/>
        </p:nvSpPr>
        <p:spPr>
          <a:xfrm>
            <a:off x="6223000" y="1117600"/>
            <a:ext cx="114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 b="1">
                <a:solidFill>
                  <a:srgbClr val="94A3B8"/>
                </a:solidFill>
                <a:latin typeface="맑은 고딕" panose="020B0503020000020004" pitchFamily="50" charset="-127"/>
              </a:rPr>
              <a:t>정체 길이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6596CF-CF84-963C-5901-905AAE494F91}"/>
              </a:ext>
            </a:extLst>
          </p:cNvPr>
          <p:cNvSpPr txBox="1"/>
          <p:nvPr/>
        </p:nvSpPr>
        <p:spPr>
          <a:xfrm>
            <a:off x="7493000" y="1117600"/>
            <a:ext cx="114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 b="1">
                <a:solidFill>
                  <a:srgbClr val="94A3B8"/>
                </a:solidFill>
                <a:latin typeface="맑은 고딕" panose="020B0503020000020004" pitchFamily="50" charset="-127"/>
              </a:rPr>
              <a:t>지속 시간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CCA050-CE0D-FB6A-CE43-E6DF769F0D34}"/>
              </a:ext>
            </a:extLst>
          </p:cNvPr>
          <p:cNvSpPr txBox="1"/>
          <p:nvPr/>
        </p:nvSpPr>
        <p:spPr>
          <a:xfrm>
            <a:off x="8890000" y="1117600"/>
            <a:ext cx="114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 b="1">
                <a:solidFill>
                  <a:srgbClr val="94A3B8"/>
                </a:solidFill>
                <a:latin typeface="맑은 고딕" panose="020B0503020000020004" pitchFamily="50" charset="-127"/>
              </a:rPr>
              <a:t>원인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E54CCF0-6CEE-FDE7-1634-8598C69AF390}"/>
              </a:ext>
            </a:extLst>
          </p:cNvPr>
          <p:cNvSpPr/>
          <p:nvPr/>
        </p:nvSpPr>
        <p:spPr>
          <a:xfrm>
            <a:off x="304800" y="1422400"/>
            <a:ext cx="11582400" cy="9398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AA3DAF42-64EF-3903-008F-2A67824078FF}"/>
              </a:ext>
            </a:extLst>
          </p:cNvPr>
          <p:cNvSpPr/>
          <p:nvPr/>
        </p:nvSpPr>
        <p:spPr>
          <a:xfrm>
            <a:off x="431800" y="1625600"/>
            <a:ext cx="457200" cy="457200"/>
          </a:xfrm>
          <a:prstGeom prst="ellipse">
            <a:avLst/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37F21C-AA41-A62F-56E6-5ADA96DB2D1E}"/>
              </a:ext>
            </a:extLst>
          </p:cNvPr>
          <p:cNvSpPr txBox="1"/>
          <p:nvPr/>
        </p:nvSpPr>
        <p:spPr>
          <a:xfrm>
            <a:off x="431800" y="1701800"/>
            <a:ext cx="4572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</a:rPr>
              <a:t>1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ACAA37-E1F9-3B3F-2C4B-C6F21B161243}"/>
              </a:ext>
            </a:extLst>
          </p:cNvPr>
          <p:cNvSpPr txBox="1"/>
          <p:nvPr/>
        </p:nvSpPr>
        <p:spPr>
          <a:xfrm>
            <a:off x="1016000" y="1549400"/>
            <a:ext cx="1473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900">
                <a:solidFill>
                  <a:srgbClr val="FFFFFF"/>
                </a:solidFill>
                <a:latin typeface="맑은 고딕" panose="020B0503020000020004" pitchFamily="50" charset="-127"/>
              </a:rPr>
              <a:t>2026-04-09 18:45</a:t>
            </a:r>
            <a:endParaRPr lang="ko-KR" altLang="en-US" sz="900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17C514-ED0C-F796-CB0E-A9F53BDFBD70}"/>
              </a:ext>
            </a:extLst>
          </p:cNvPr>
          <p:cNvSpPr txBox="1"/>
          <p:nvPr/>
        </p:nvSpPr>
        <p:spPr>
          <a:xfrm>
            <a:off x="2540000" y="1549400"/>
            <a:ext cx="1727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 b="1">
                <a:solidFill>
                  <a:srgbClr val="EF4444"/>
                </a:solidFill>
                <a:latin typeface="맑은 고딕" panose="020B0503020000020004" pitchFamily="50" charset="-127"/>
              </a:rPr>
              <a:t>영동고속도로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6D0BF9-F77A-7BDE-9E0F-4882DF104163}"/>
              </a:ext>
            </a:extLst>
          </p:cNvPr>
          <p:cNvSpPr txBox="1"/>
          <p:nvPr/>
        </p:nvSpPr>
        <p:spPr>
          <a:xfrm>
            <a:off x="4318000" y="1549400"/>
            <a:ext cx="1854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신갈</a:t>
            </a:r>
            <a:r>
              <a:rPr lang="en-US" altLang="ko-KR" sz="900">
                <a:solidFill>
                  <a:srgbClr val="FFFFFF"/>
                </a:solidFill>
                <a:latin typeface="맑은 고딕" panose="020B0503020000020004" pitchFamily="50" charset="-127"/>
              </a:rPr>
              <a:t>JC-</a:t>
            </a:r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이천</a:t>
            </a:r>
            <a:r>
              <a:rPr lang="en-US" altLang="ko-KR" sz="900">
                <a:solidFill>
                  <a:srgbClr val="FFFFFF"/>
                </a:solidFill>
                <a:latin typeface="맑은 고딕" panose="020B0503020000020004" pitchFamily="50" charset="-127"/>
              </a:rPr>
              <a:t>IC</a:t>
            </a:r>
            <a:endParaRPr lang="ko-KR" altLang="en-US" sz="900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AA149A-42D1-2E34-97C4-71EDE4200B24}"/>
              </a:ext>
            </a:extLst>
          </p:cNvPr>
          <p:cNvSpPr txBox="1"/>
          <p:nvPr/>
        </p:nvSpPr>
        <p:spPr>
          <a:xfrm>
            <a:off x="6223000" y="1549400"/>
            <a:ext cx="121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900" b="1">
                <a:solidFill>
                  <a:srgbClr val="F59E0B"/>
                </a:solidFill>
                <a:latin typeface="맑은 고딕" panose="020B0503020000020004" pitchFamily="50" charset="-127"/>
              </a:rPr>
              <a:t>12.9 km</a:t>
            </a:r>
            <a:endParaRPr lang="ko-KR" altLang="en-US" sz="900" b="1">
              <a:solidFill>
                <a:srgbClr val="F59E0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A899663-716B-447B-27A6-70CCB72BFC3B}"/>
              </a:ext>
            </a:extLst>
          </p:cNvPr>
          <p:cNvSpPr/>
          <p:nvPr/>
        </p:nvSpPr>
        <p:spPr>
          <a:xfrm>
            <a:off x="7493000" y="1727200"/>
            <a:ext cx="2286000" cy="177800"/>
          </a:xfrm>
          <a:prstGeom prst="rect">
            <a:avLst/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156FB2-A83C-F3A9-29F0-23BE7076EE34}"/>
              </a:ext>
            </a:extLst>
          </p:cNvPr>
          <p:cNvSpPr txBox="1"/>
          <p:nvPr/>
        </p:nvSpPr>
        <p:spPr>
          <a:xfrm>
            <a:off x="7493000" y="1524000"/>
            <a:ext cx="127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900" b="1">
                <a:solidFill>
                  <a:srgbClr val="EF4444"/>
                </a:solidFill>
                <a:latin typeface="맑은 고딕" panose="020B0503020000020004" pitchFamily="50" charset="-127"/>
              </a:rPr>
              <a:t>180</a:t>
            </a:r>
            <a:r>
              <a:rPr lang="ko-KR" altLang="en-US" sz="900" b="1">
                <a:solidFill>
                  <a:srgbClr val="EF4444"/>
                </a:solidFill>
                <a:latin typeface="맑은 고딕" panose="020B0503020000020004" pitchFamily="50" charset="-127"/>
              </a:rPr>
              <a:t>분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9965A34-30F0-ACED-7064-DB892E8CBFD8}"/>
              </a:ext>
            </a:extLst>
          </p:cNvPr>
          <p:cNvSpPr/>
          <p:nvPr/>
        </p:nvSpPr>
        <p:spPr>
          <a:xfrm>
            <a:off x="8890000" y="1600200"/>
            <a:ext cx="1016000" cy="279400"/>
          </a:xfrm>
          <a:prstGeom prst="roundRect">
            <a:avLst/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8E30A0-00EC-0033-0A60-6E8C8DBA61F2}"/>
              </a:ext>
            </a:extLst>
          </p:cNvPr>
          <p:cNvSpPr txBox="1"/>
          <p:nvPr/>
        </p:nvSpPr>
        <p:spPr>
          <a:xfrm>
            <a:off x="8890000" y="1625600"/>
            <a:ext cx="1016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</a:rPr>
              <a:t>행사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01EA57B-ADCC-C5FE-19A2-314F542C828B}"/>
              </a:ext>
            </a:extLst>
          </p:cNvPr>
          <p:cNvSpPr/>
          <p:nvPr/>
        </p:nvSpPr>
        <p:spPr>
          <a:xfrm>
            <a:off x="304800" y="1422400"/>
            <a:ext cx="50800" cy="939800"/>
          </a:xfrm>
          <a:prstGeom prst="rect">
            <a:avLst/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25C07BD-85CB-6DFF-4EDC-F2CD53C9FD51}"/>
              </a:ext>
            </a:extLst>
          </p:cNvPr>
          <p:cNvSpPr/>
          <p:nvPr/>
        </p:nvSpPr>
        <p:spPr>
          <a:xfrm>
            <a:off x="304800" y="2387600"/>
            <a:ext cx="11582400" cy="939800"/>
          </a:xfrm>
          <a:prstGeom prst="rect">
            <a:avLst/>
          </a:prstGeom>
          <a:solidFill>
            <a:srgbClr val="0A0F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717C2F02-DF3E-A038-25CC-3A848A84FC61}"/>
              </a:ext>
            </a:extLst>
          </p:cNvPr>
          <p:cNvSpPr/>
          <p:nvPr/>
        </p:nvSpPr>
        <p:spPr>
          <a:xfrm>
            <a:off x="431800" y="2590800"/>
            <a:ext cx="457200" cy="457200"/>
          </a:xfrm>
          <a:prstGeom prst="ellipse">
            <a:avLst/>
          </a:prstGeom>
          <a:solidFill>
            <a:srgbClr val="F973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FBB415-3CDD-5763-AAFB-144D77729C38}"/>
              </a:ext>
            </a:extLst>
          </p:cNvPr>
          <p:cNvSpPr txBox="1"/>
          <p:nvPr/>
        </p:nvSpPr>
        <p:spPr>
          <a:xfrm>
            <a:off x="431800" y="2667000"/>
            <a:ext cx="4572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</a:rPr>
              <a:t>2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A4CC51-A05B-9BE4-3498-A674ED4BF914}"/>
              </a:ext>
            </a:extLst>
          </p:cNvPr>
          <p:cNvSpPr txBox="1"/>
          <p:nvPr/>
        </p:nvSpPr>
        <p:spPr>
          <a:xfrm>
            <a:off x="1016000" y="2514600"/>
            <a:ext cx="1473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900">
                <a:solidFill>
                  <a:srgbClr val="FFFFFF"/>
                </a:solidFill>
                <a:latin typeface="맑은 고딕" panose="020B0503020000020004" pitchFamily="50" charset="-127"/>
              </a:rPr>
              <a:t>2026-04-08 08:00</a:t>
            </a:r>
            <a:endParaRPr lang="ko-KR" altLang="en-US" sz="900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6CADDA-62CF-8E7C-B4C6-8D4063CC9EF6}"/>
              </a:ext>
            </a:extLst>
          </p:cNvPr>
          <p:cNvSpPr txBox="1"/>
          <p:nvPr/>
        </p:nvSpPr>
        <p:spPr>
          <a:xfrm>
            <a:off x="2540000" y="2514600"/>
            <a:ext cx="1727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 b="1">
                <a:solidFill>
                  <a:srgbClr val="F97316"/>
                </a:solidFill>
                <a:latin typeface="맑은 고딕" panose="020B0503020000020004" pitchFamily="50" charset="-127"/>
              </a:rPr>
              <a:t>남해고속도로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5E4E697-22D9-B27F-A458-9051B4ED3C1C}"/>
              </a:ext>
            </a:extLst>
          </p:cNvPr>
          <p:cNvSpPr txBox="1"/>
          <p:nvPr/>
        </p:nvSpPr>
        <p:spPr>
          <a:xfrm>
            <a:off x="4318000" y="2514600"/>
            <a:ext cx="1854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순천</a:t>
            </a:r>
            <a:r>
              <a:rPr lang="en-US" altLang="ko-KR" sz="900">
                <a:solidFill>
                  <a:srgbClr val="FFFFFF"/>
                </a:solidFill>
                <a:latin typeface="맑은 고딕" panose="020B0503020000020004" pitchFamily="50" charset="-127"/>
              </a:rPr>
              <a:t>IC-</a:t>
            </a:r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광양</a:t>
            </a:r>
            <a:r>
              <a:rPr lang="en-US" altLang="ko-KR" sz="900">
                <a:solidFill>
                  <a:srgbClr val="FFFFFF"/>
                </a:solidFill>
                <a:latin typeface="맑은 고딕" panose="020B0503020000020004" pitchFamily="50" charset="-127"/>
              </a:rPr>
              <a:t>IC</a:t>
            </a:r>
            <a:endParaRPr lang="ko-KR" altLang="en-US" sz="900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266526-2C1A-FF5E-C685-6EE39BDF57EE}"/>
              </a:ext>
            </a:extLst>
          </p:cNvPr>
          <p:cNvSpPr txBox="1"/>
          <p:nvPr/>
        </p:nvSpPr>
        <p:spPr>
          <a:xfrm>
            <a:off x="6223000" y="2514600"/>
            <a:ext cx="121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900" b="1">
                <a:solidFill>
                  <a:srgbClr val="F59E0B"/>
                </a:solidFill>
                <a:latin typeface="맑은 고딕" panose="020B0503020000020004" pitchFamily="50" charset="-127"/>
              </a:rPr>
              <a:t>3.5 km</a:t>
            </a:r>
            <a:endParaRPr lang="ko-KR" altLang="en-US" sz="900" b="1">
              <a:solidFill>
                <a:srgbClr val="F59E0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B204E6E-4129-8CAF-A93E-1DD65D621084}"/>
              </a:ext>
            </a:extLst>
          </p:cNvPr>
          <p:cNvSpPr/>
          <p:nvPr/>
        </p:nvSpPr>
        <p:spPr>
          <a:xfrm>
            <a:off x="7493000" y="2692400"/>
            <a:ext cx="2133600" cy="177800"/>
          </a:xfrm>
          <a:prstGeom prst="rect">
            <a:avLst/>
          </a:prstGeom>
          <a:solidFill>
            <a:srgbClr val="F973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836997E-7AAC-FD2C-CAA7-A8F0555D45ED}"/>
              </a:ext>
            </a:extLst>
          </p:cNvPr>
          <p:cNvSpPr txBox="1"/>
          <p:nvPr/>
        </p:nvSpPr>
        <p:spPr>
          <a:xfrm>
            <a:off x="7493000" y="2489200"/>
            <a:ext cx="127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900" b="1">
                <a:solidFill>
                  <a:srgbClr val="F97316"/>
                </a:solidFill>
                <a:latin typeface="맑은 고딕" panose="020B0503020000020004" pitchFamily="50" charset="-127"/>
              </a:rPr>
              <a:t>168</a:t>
            </a:r>
            <a:r>
              <a:rPr lang="ko-KR" altLang="en-US" sz="900" b="1">
                <a:solidFill>
                  <a:srgbClr val="F97316"/>
                </a:solidFill>
                <a:latin typeface="맑은 고딕" panose="020B0503020000020004" pitchFamily="50" charset="-127"/>
              </a:rPr>
              <a:t>분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78D1A3A0-5FA6-82E4-47C0-CEAE940776F9}"/>
              </a:ext>
            </a:extLst>
          </p:cNvPr>
          <p:cNvSpPr/>
          <p:nvPr/>
        </p:nvSpPr>
        <p:spPr>
          <a:xfrm>
            <a:off x="8890000" y="2565400"/>
            <a:ext cx="1016000" cy="279400"/>
          </a:xfrm>
          <a:prstGeom prst="roundRect">
            <a:avLst/>
          </a:prstGeom>
          <a:solidFill>
            <a:srgbClr val="F973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656195-E7EB-A6D9-73D9-BC540A0CC26C}"/>
              </a:ext>
            </a:extLst>
          </p:cNvPr>
          <p:cNvSpPr txBox="1"/>
          <p:nvPr/>
        </p:nvSpPr>
        <p:spPr>
          <a:xfrm>
            <a:off x="8890000" y="2590800"/>
            <a:ext cx="1016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</a:rPr>
              <a:t>행사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6EBD89B-2A73-8956-92B6-2875F8D665A1}"/>
              </a:ext>
            </a:extLst>
          </p:cNvPr>
          <p:cNvSpPr/>
          <p:nvPr/>
        </p:nvSpPr>
        <p:spPr>
          <a:xfrm>
            <a:off x="304800" y="2387600"/>
            <a:ext cx="50800" cy="939800"/>
          </a:xfrm>
          <a:prstGeom prst="rect">
            <a:avLst/>
          </a:prstGeom>
          <a:solidFill>
            <a:srgbClr val="F973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0F22454-0D9B-2117-6D51-030EC2E8B350}"/>
              </a:ext>
            </a:extLst>
          </p:cNvPr>
          <p:cNvSpPr/>
          <p:nvPr/>
        </p:nvSpPr>
        <p:spPr>
          <a:xfrm>
            <a:off x="304800" y="3352800"/>
            <a:ext cx="11582400" cy="9398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D2EFBFC6-CD8C-E31A-5177-773CF201C0F9}"/>
              </a:ext>
            </a:extLst>
          </p:cNvPr>
          <p:cNvSpPr/>
          <p:nvPr/>
        </p:nvSpPr>
        <p:spPr>
          <a:xfrm>
            <a:off x="431800" y="3556000"/>
            <a:ext cx="457200" cy="457200"/>
          </a:xfrm>
          <a:prstGeom prst="ellipse">
            <a:avLst/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057D99F-FB70-505C-838E-8D8013C1F3EE}"/>
              </a:ext>
            </a:extLst>
          </p:cNvPr>
          <p:cNvSpPr txBox="1"/>
          <p:nvPr/>
        </p:nvSpPr>
        <p:spPr>
          <a:xfrm>
            <a:off x="431800" y="3632200"/>
            <a:ext cx="4572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</a:rPr>
              <a:t>3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73232B4-2557-5AF6-182A-3A03F2432C98}"/>
              </a:ext>
            </a:extLst>
          </p:cNvPr>
          <p:cNvSpPr txBox="1"/>
          <p:nvPr/>
        </p:nvSpPr>
        <p:spPr>
          <a:xfrm>
            <a:off x="1016000" y="3479800"/>
            <a:ext cx="1473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900">
                <a:solidFill>
                  <a:srgbClr val="FFFFFF"/>
                </a:solidFill>
                <a:latin typeface="맑은 고딕" panose="020B0503020000020004" pitchFamily="50" charset="-127"/>
              </a:rPr>
              <a:t>2026-04-22 18:00</a:t>
            </a:r>
            <a:endParaRPr lang="ko-KR" altLang="en-US" sz="900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11A19B3-D591-0745-9033-08F11FAFB086}"/>
              </a:ext>
            </a:extLst>
          </p:cNvPr>
          <p:cNvSpPr txBox="1"/>
          <p:nvPr/>
        </p:nvSpPr>
        <p:spPr>
          <a:xfrm>
            <a:off x="2540000" y="3479800"/>
            <a:ext cx="1727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 b="1">
                <a:solidFill>
                  <a:srgbClr val="EF4444"/>
                </a:solidFill>
                <a:latin typeface="맑은 고딕" panose="020B0503020000020004" pitchFamily="50" charset="-127"/>
              </a:rPr>
              <a:t>경부고속도로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A6FDC11-075A-1D3D-E346-E33B0F732DA0}"/>
              </a:ext>
            </a:extLst>
          </p:cNvPr>
          <p:cNvSpPr txBox="1"/>
          <p:nvPr/>
        </p:nvSpPr>
        <p:spPr>
          <a:xfrm>
            <a:off x="4318000" y="3479800"/>
            <a:ext cx="1854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수원</a:t>
            </a:r>
            <a:r>
              <a:rPr lang="en-US" altLang="ko-KR" sz="900">
                <a:solidFill>
                  <a:srgbClr val="FFFFFF"/>
                </a:solidFill>
                <a:latin typeface="맑은 고딕" panose="020B0503020000020004" pitchFamily="50" charset="-127"/>
              </a:rPr>
              <a:t>IC-</a:t>
            </a:r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안성</a:t>
            </a:r>
            <a:r>
              <a:rPr lang="en-US" altLang="ko-KR" sz="900">
                <a:solidFill>
                  <a:srgbClr val="FFFFFF"/>
                </a:solidFill>
                <a:latin typeface="맑은 고딕" panose="020B0503020000020004" pitchFamily="50" charset="-127"/>
              </a:rPr>
              <a:t>IC</a:t>
            </a:r>
            <a:endParaRPr lang="ko-KR" altLang="en-US" sz="900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3364520-56D8-F3D4-2099-F0691182B7F5}"/>
              </a:ext>
            </a:extLst>
          </p:cNvPr>
          <p:cNvSpPr txBox="1"/>
          <p:nvPr/>
        </p:nvSpPr>
        <p:spPr>
          <a:xfrm>
            <a:off x="6223000" y="3479800"/>
            <a:ext cx="121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900" b="1">
                <a:solidFill>
                  <a:srgbClr val="F59E0B"/>
                </a:solidFill>
                <a:latin typeface="맑은 고딕" panose="020B0503020000020004" pitchFamily="50" charset="-127"/>
              </a:rPr>
              <a:t>14.9 km</a:t>
            </a:r>
            <a:endParaRPr lang="ko-KR" altLang="en-US" sz="900" b="1">
              <a:solidFill>
                <a:srgbClr val="F59E0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7907E99-CA49-2B38-530F-31E9D6614F6E}"/>
              </a:ext>
            </a:extLst>
          </p:cNvPr>
          <p:cNvSpPr/>
          <p:nvPr/>
        </p:nvSpPr>
        <p:spPr>
          <a:xfrm>
            <a:off x="7493000" y="3657600"/>
            <a:ext cx="2133600" cy="177800"/>
          </a:xfrm>
          <a:prstGeom prst="rect">
            <a:avLst/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2A617E9-C74F-9686-E570-765D447622C9}"/>
              </a:ext>
            </a:extLst>
          </p:cNvPr>
          <p:cNvSpPr txBox="1"/>
          <p:nvPr/>
        </p:nvSpPr>
        <p:spPr>
          <a:xfrm>
            <a:off x="7493000" y="3454400"/>
            <a:ext cx="127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900" b="1">
                <a:solidFill>
                  <a:srgbClr val="EF4444"/>
                </a:solidFill>
                <a:latin typeface="맑은 고딕" panose="020B0503020000020004" pitchFamily="50" charset="-127"/>
              </a:rPr>
              <a:t>168</a:t>
            </a:r>
            <a:r>
              <a:rPr lang="ko-KR" altLang="en-US" sz="900" b="1">
                <a:solidFill>
                  <a:srgbClr val="EF4444"/>
                </a:solidFill>
                <a:latin typeface="맑은 고딕" panose="020B0503020000020004" pitchFamily="50" charset="-127"/>
              </a:rPr>
              <a:t>분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40C4DDBF-3B85-597B-9BF5-A176DDC9209A}"/>
              </a:ext>
            </a:extLst>
          </p:cNvPr>
          <p:cNvSpPr/>
          <p:nvPr/>
        </p:nvSpPr>
        <p:spPr>
          <a:xfrm>
            <a:off x="8890000" y="3530600"/>
            <a:ext cx="1016000" cy="279400"/>
          </a:xfrm>
          <a:prstGeom prst="roundRect">
            <a:avLst/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C548F2B-658E-00B5-731B-51082CEF3CE5}"/>
              </a:ext>
            </a:extLst>
          </p:cNvPr>
          <p:cNvSpPr txBox="1"/>
          <p:nvPr/>
        </p:nvSpPr>
        <p:spPr>
          <a:xfrm>
            <a:off x="8890000" y="3556000"/>
            <a:ext cx="1016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</a:rPr>
              <a:t>사고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3D3670CB-5281-40B1-C97F-B7FCC5023DA4}"/>
              </a:ext>
            </a:extLst>
          </p:cNvPr>
          <p:cNvSpPr/>
          <p:nvPr/>
        </p:nvSpPr>
        <p:spPr>
          <a:xfrm>
            <a:off x="304800" y="3352800"/>
            <a:ext cx="50800" cy="939800"/>
          </a:xfrm>
          <a:prstGeom prst="rect">
            <a:avLst/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860FFF94-58BB-7E58-6118-747B6ADC4655}"/>
              </a:ext>
            </a:extLst>
          </p:cNvPr>
          <p:cNvSpPr/>
          <p:nvPr/>
        </p:nvSpPr>
        <p:spPr>
          <a:xfrm>
            <a:off x="304800" y="4318000"/>
            <a:ext cx="11582400" cy="939800"/>
          </a:xfrm>
          <a:prstGeom prst="rect">
            <a:avLst/>
          </a:prstGeom>
          <a:solidFill>
            <a:srgbClr val="0A0F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29BD98A1-2492-BEB4-653F-EE11D4359150}"/>
              </a:ext>
            </a:extLst>
          </p:cNvPr>
          <p:cNvSpPr/>
          <p:nvPr/>
        </p:nvSpPr>
        <p:spPr>
          <a:xfrm>
            <a:off x="431800" y="4521200"/>
            <a:ext cx="457200" cy="457200"/>
          </a:xfrm>
          <a:prstGeom prst="ellipse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43DF819-19CA-5D7A-4949-E39F49524FF2}"/>
              </a:ext>
            </a:extLst>
          </p:cNvPr>
          <p:cNvSpPr txBox="1"/>
          <p:nvPr/>
        </p:nvSpPr>
        <p:spPr>
          <a:xfrm>
            <a:off x="431800" y="4597400"/>
            <a:ext cx="4572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</a:rPr>
              <a:t>4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53C7CF2-6CF3-9D63-87DD-1CE2BD6A08F6}"/>
              </a:ext>
            </a:extLst>
          </p:cNvPr>
          <p:cNvSpPr txBox="1"/>
          <p:nvPr/>
        </p:nvSpPr>
        <p:spPr>
          <a:xfrm>
            <a:off x="1016000" y="4445000"/>
            <a:ext cx="1473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900">
                <a:solidFill>
                  <a:srgbClr val="FFFFFF"/>
                </a:solidFill>
                <a:latin typeface="맑은 고딕" panose="020B0503020000020004" pitchFamily="50" charset="-127"/>
              </a:rPr>
              <a:t>2026-04-02 17:00</a:t>
            </a:r>
            <a:endParaRPr lang="ko-KR" altLang="en-US" sz="900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A97FC04-6419-89B6-35AF-704D591B7A5F}"/>
              </a:ext>
            </a:extLst>
          </p:cNvPr>
          <p:cNvSpPr txBox="1"/>
          <p:nvPr/>
        </p:nvSpPr>
        <p:spPr>
          <a:xfrm>
            <a:off x="2540000" y="4445000"/>
            <a:ext cx="1727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 b="1">
                <a:solidFill>
                  <a:srgbClr val="8B5CF6"/>
                </a:solidFill>
                <a:latin typeface="맑은 고딕" panose="020B0503020000020004" pitchFamily="50" charset="-127"/>
              </a:rPr>
              <a:t>영동고속도로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C1094A4-2AC4-54A5-13D0-B157072774F5}"/>
              </a:ext>
            </a:extLst>
          </p:cNvPr>
          <p:cNvSpPr txBox="1"/>
          <p:nvPr/>
        </p:nvSpPr>
        <p:spPr>
          <a:xfrm>
            <a:off x="4318000" y="4445000"/>
            <a:ext cx="1854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이천</a:t>
            </a:r>
            <a:r>
              <a:rPr lang="en-US" altLang="ko-KR" sz="900">
                <a:solidFill>
                  <a:srgbClr val="FFFFFF"/>
                </a:solidFill>
                <a:latin typeface="맑은 고딕" panose="020B0503020000020004" pitchFamily="50" charset="-127"/>
              </a:rPr>
              <a:t>IC-</a:t>
            </a:r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여주</a:t>
            </a:r>
            <a:r>
              <a:rPr lang="en-US" altLang="ko-KR" sz="900">
                <a:solidFill>
                  <a:srgbClr val="FFFFFF"/>
                </a:solidFill>
                <a:latin typeface="맑은 고딕" panose="020B0503020000020004" pitchFamily="50" charset="-127"/>
              </a:rPr>
              <a:t>IC</a:t>
            </a:r>
            <a:endParaRPr lang="ko-KR" altLang="en-US" sz="900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2D582F1-F110-E1AE-E6E6-59C289410731}"/>
              </a:ext>
            </a:extLst>
          </p:cNvPr>
          <p:cNvSpPr txBox="1"/>
          <p:nvPr/>
        </p:nvSpPr>
        <p:spPr>
          <a:xfrm>
            <a:off x="6223000" y="4445000"/>
            <a:ext cx="121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900" b="1">
                <a:solidFill>
                  <a:srgbClr val="F59E0B"/>
                </a:solidFill>
                <a:latin typeface="맑은 고딕" panose="020B0503020000020004" pitchFamily="50" charset="-127"/>
              </a:rPr>
              <a:t>3.2 km</a:t>
            </a:r>
            <a:endParaRPr lang="ko-KR" altLang="en-US" sz="900" b="1">
              <a:solidFill>
                <a:srgbClr val="F59E0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1E2ABCBF-8CC8-5C05-7E53-F17A4A78CAF6}"/>
              </a:ext>
            </a:extLst>
          </p:cNvPr>
          <p:cNvSpPr/>
          <p:nvPr/>
        </p:nvSpPr>
        <p:spPr>
          <a:xfrm>
            <a:off x="7493000" y="4622800"/>
            <a:ext cx="2095500" cy="177800"/>
          </a:xfrm>
          <a:prstGeom prst="rect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B8FDB35-8F04-D383-5A10-918D8F331592}"/>
              </a:ext>
            </a:extLst>
          </p:cNvPr>
          <p:cNvSpPr txBox="1"/>
          <p:nvPr/>
        </p:nvSpPr>
        <p:spPr>
          <a:xfrm>
            <a:off x="7493000" y="4419600"/>
            <a:ext cx="127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900" b="1">
                <a:solidFill>
                  <a:srgbClr val="8B5CF6"/>
                </a:solidFill>
                <a:latin typeface="맑은 고딕" panose="020B0503020000020004" pitchFamily="50" charset="-127"/>
              </a:rPr>
              <a:t>165</a:t>
            </a:r>
            <a:r>
              <a:rPr lang="ko-KR" altLang="en-US" sz="900" b="1">
                <a:solidFill>
                  <a:srgbClr val="8B5CF6"/>
                </a:solidFill>
                <a:latin typeface="맑은 고딕" panose="020B0503020000020004" pitchFamily="50" charset="-127"/>
              </a:rPr>
              <a:t>분</a:t>
            </a: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C3C61931-09F6-864E-421B-928CDEAB3578}"/>
              </a:ext>
            </a:extLst>
          </p:cNvPr>
          <p:cNvSpPr/>
          <p:nvPr/>
        </p:nvSpPr>
        <p:spPr>
          <a:xfrm>
            <a:off x="8890000" y="4495800"/>
            <a:ext cx="1016000" cy="279400"/>
          </a:xfrm>
          <a:prstGeom prst="roundRect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C242AB8-6F4C-9EB5-2DA5-1CB763B63396}"/>
              </a:ext>
            </a:extLst>
          </p:cNvPr>
          <p:cNvSpPr txBox="1"/>
          <p:nvPr/>
        </p:nvSpPr>
        <p:spPr>
          <a:xfrm>
            <a:off x="8890000" y="4521200"/>
            <a:ext cx="1016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</a:rPr>
              <a:t>주말 정체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8AD384EF-6693-D99B-BCB3-0277CC0A6FCD}"/>
              </a:ext>
            </a:extLst>
          </p:cNvPr>
          <p:cNvSpPr/>
          <p:nvPr/>
        </p:nvSpPr>
        <p:spPr>
          <a:xfrm>
            <a:off x="304800" y="4318000"/>
            <a:ext cx="50800" cy="939800"/>
          </a:xfrm>
          <a:prstGeom prst="rect">
            <a:avLst/>
          </a:prstGeom>
          <a:solidFill>
            <a:srgbClr val="8B5C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F7763732-78DE-F84D-E813-7C79D237189F}"/>
              </a:ext>
            </a:extLst>
          </p:cNvPr>
          <p:cNvSpPr/>
          <p:nvPr/>
        </p:nvSpPr>
        <p:spPr>
          <a:xfrm>
            <a:off x="304800" y="5283200"/>
            <a:ext cx="11582400" cy="9398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0E48C06A-E477-392A-F42E-EC1C1D8CEC32}"/>
              </a:ext>
            </a:extLst>
          </p:cNvPr>
          <p:cNvSpPr/>
          <p:nvPr/>
        </p:nvSpPr>
        <p:spPr>
          <a:xfrm>
            <a:off x="431800" y="5486400"/>
            <a:ext cx="457200" cy="457200"/>
          </a:xfrm>
          <a:prstGeom prst="ellipse">
            <a:avLst/>
          </a:prstGeom>
          <a:solidFill>
            <a:srgbClr val="06B6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1D13ED3-0318-D876-6FA6-73E1A3259D5E}"/>
              </a:ext>
            </a:extLst>
          </p:cNvPr>
          <p:cNvSpPr txBox="1"/>
          <p:nvPr/>
        </p:nvSpPr>
        <p:spPr>
          <a:xfrm>
            <a:off x="431800" y="5562600"/>
            <a:ext cx="4572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</a:rPr>
              <a:t>5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CFCB8DB-D0AC-071E-E2D5-A938BCF68CE0}"/>
              </a:ext>
            </a:extLst>
          </p:cNvPr>
          <p:cNvSpPr txBox="1"/>
          <p:nvPr/>
        </p:nvSpPr>
        <p:spPr>
          <a:xfrm>
            <a:off x="1016000" y="5410200"/>
            <a:ext cx="1473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900">
                <a:solidFill>
                  <a:srgbClr val="FFFFFF"/>
                </a:solidFill>
                <a:latin typeface="맑은 고딕" panose="020B0503020000020004" pitchFamily="50" charset="-127"/>
              </a:rPr>
              <a:t>2026-04-06 17:15</a:t>
            </a:r>
            <a:endParaRPr lang="ko-KR" altLang="en-US" sz="900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D82BD23-D595-C975-B1E1-5922042A6F90}"/>
              </a:ext>
            </a:extLst>
          </p:cNvPr>
          <p:cNvSpPr txBox="1"/>
          <p:nvPr/>
        </p:nvSpPr>
        <p:spPr>
          <a:xfrm>
            <a:off x="2540000" y="5410200"/>
            <a:ext cx="1727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 b="1">
                <a:solidFill>
                  <a:srgbClr val="06B6D4"/>
                </a:solidFill>
                <a:latin typeface="맑은 고딕" panose="020B0503020000020004" pitchFamily="50" charset="-127"/>
              </a:rPr>
              <a:t>서해안고속도로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C81DE93-9B48-266C-295A-6A3F2E170A03}"/>
              </a:ext>
            </a:extLst>
          </p:cNvPr>
          <p:cNvSpPr txBox="1"/>
          <p:nvPr/>
        </p:nvSpPr>
        <p:spPr>
          <a:xfrm>
            <a:off x="4318000" y="5410200"/>
            <a:ext cx="1854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목감</a:t>
            </a:r>
            <a:r>
              <a:rPr lang="en-US" altLang="ko-KR" sz="900">
                <a:solidFill>
                  <a:srgbClr val="FFFFFF"/>
                </a:solidFill>
                <a:latin typeface="맑은 고딕" panose="020B0503020000020004" pitchFamily="50" charset="-127"/>
              </a:rPr>
              <a:t>IC-</a:t>
            </a:r>
            <a:r>
              <a:rPr lang="ko-KR" altLang="en-US" sz="900">
                <a:solidFill>
                  <a:srgbClr val="FFFFFF"/>
                </a:solidFill>
                <a:latin typeface="맑은 고딕" panose="020B0503020000020004" pitchFamily="50" charset="-127"/>
              </a:rPr>
              <a:t>당진</a:t>
            </a:r>
            <a:r>
              <a:rPr lang="en-US" altLang="ko-KR" sz="900">
                <a:solidFill>
                  <a:srgbClr val="FFFFFF"/>
                </a:solidFill>
                <a:latin typeface="맑은 고딕" panose="020B0503020000020004" pitchFamily="50" charset="-127"/>
              </a:rPr>
              <a:t>IC</a:t>
            </a:r>
            <a:endParaRPr lang="ko-KR" altLang="en-US" sz="900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A6E86CC-2D9C-519C-59C9-8DC820F086CA}"/>
              </a:ext>
            </a:extLst>
          </p:cNvPr>
          <p:cNvSpPr txBox="1"/>
          <p:nvPr/>
        </p:nvSpPr>
        <p:spPr>
          <a:xfrm>
            <a:off x="6223000" y="5410200"/>
            <a:ext cx="1219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900" b="1">
                <a:solidFill>
                  <a:srgbClr val="F59E0B"/>
                </a:solidFill>
                <a:latin typeface="맑은 고딕" panose="020B0503020000020004" pitchFamily="50" charset="-127"/>
              </a:rPr>
              <a:t>7.6 km</a:t>
            </a:r>
            <a:endParaRPr lang="ko-KR" altLang="en-US" sz="900" b="1">
              <a:solidFill>
                <a:srgbClr val="F59E0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A1B8109B-D732-79B6-3878-F430593E6304}"/>
              </a:ext>
            </a:extLst>
          </p:cNvPr>
          <p:cNvSpPr/>
          <p:nvPr/>
        </p:nvSpPr>
        <p:spPr>
          <a:xfrm>
            <a:off x="7493000" y="5588000"/>
            <a:ext cx="1981200" cy="177800"/>
          </a:xfrm>
          <a:prstGeom prst="rect">
            <a:avLst/>
          </a:prstGeom>
          <a:solidFill>
            <a:srgbClr val="06B6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80D22BD-B940-A9A4-629B-0880C24AD0FC}"/>
              </a:ext>
            </a:extLst>
          </p:cNvPr>
          <p:cNvSpPr txBox="1"/>
          <p:nvPr/>
        </p:nvSpPr>
        <p:spPr>
          <a:xfrm>
            <a:off x="7493000" y="5384800"/>
            <a:ext cx="127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900" b="1">
                <a:solidFill>
                  <a:srgbClr val="06B6D4"/>
                </a:solidFill>
                <a:latin typeface="맑은 고딕" panose="020B0503020000020004" pitchFamily="50" charset="-127"/>
              </a:rPr>
              <a:t>156</a:t>
            </a:r>
            <a:r>
              <a:rPr lang="ko-KR" altLang="en-US" sz="900" b="1">
                <a:solidFill>
                  <a:srgbClr val="06B6D4"/>
                </a:solidFill>
                <a:latin typeface="맑은 고딕" panose="020B0503020000020004" pitchFamily="50" charset="-127"/>
              </a:rPr>
              <a:t>분</a:t>
            </a: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9AF1CCE8-3FD1-3BD1-139B-47B4307997A4}"/>
              </a:ext>
            </a:extLst>
          </p:cNvPr>
          <p:cNvSpPr/>
          <p:nvPr/>
        </p:nvSpPr>
        <p:spPr>
          <a:xfrm>
            <a:off x="8890000" y="5461000"/>
            <a:ext cx="1016000" cy="279400"/>
          </a:xfrm>
          <a:prstGeom prst="roundRect">
            <a:avLst/>
          </a:prstGeom>
          <a:solidFill>
            <a:srgbClr val="06B6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8836A4A-C923-607F-C63C-FB5605FFB175}"/>
              </a:ext>
            </a:extLst>
          </p:cNvPr>
          <p:cNvSpPr txBox="1"/>
          <p:nvPr/>
        </p:nvSpPr>
        <p:spPr>
          <a:xfrm>
            <a:off x="8890000" y="5486400"/>
            <a:ext cx="1016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ko-KR" altLang="en-US" sz="800" b="1">
                <a:solidFill>
                  <a:srgbClr val="FFFFFF"/>
                </a:solidFill>
                <a:latin typeface="맑은 고딕" panose="020B0503020000020004" pitchFamily="50" charset="-127"/>
              </a:rPr>
              <a:t>기상악화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7AD13C11-57DC-483D-CCD6-3CB3F44FA5FE}"/>
              </a:ext>
            </a:extLst>
          </p:cNvPr>
          <p:cNvSpPr/>
          <p:nvPr/>
        </p:nvSpPr>
        <p:spPr>
          <a:xfrm>
            <a:off x="304800" y="5283200"/>
            <a:ext cx="50800" cy="939800"/>
          </a:xfrm>
          <a:prstGeom prst="rect">
            <a:avLst/>
          </a:prstGeom>
          <a:solidFill>
            <a:srgbClr val="06B6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3782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6407044-9FE9-D843-3E07-2B59274C3181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61B3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C259E4-947A-DD29-92DD-372047955F1D}"/>
              </a:ext>
            </a:extLst>
          </p:cNvPr>
          <p:cNvSpPr txBox="1"/>
          <p:nvPr/>
        </p:nvSpPr>
        <p:spPr>
          <a:xfrm>
            <a:off x="254000" y="152400"/>
            <a:ext cx="889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000" b="1">
                <a:solidFill>
                  <a:srgbClr val="FFFFFF"/>
                </a:solidFill>
                <a:latin typeface="맑은 고딕" panose="020B0503020000020004" pitchFamily="50" charset="-127"/>
              </a:rPr>
              <a:t>시간대별 정체 발생 패턴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9D9B47-51A8-E084-7787-5A217684296C}"/>
              </a:ext>
            </a:extLst>
          </p:cNvPr>
          <p:cNvSpPr txBox="1"/>
          <p:nvPr/>
        </p:nvSpPr>
        <p:spPr>
          <a:xfrm>
            <a:off x="254000" y="558800"/>
            <a:ext cx="889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100">
                <a:solidFill>
                  <a:srgbClr val="94A3B8"/>
                </a:solidFill>
                <a:latin typeface="맑은 고딕" panose="020B0503020000020004" pitchFamily="50" charset="-127"/>
              </a:rPr>
              <a:t>0~23</a:t>
            </a:r>
            <a:r>
              <a:rPr lang="ko-KR" altLang="en-US" sz="1100">
                <a:solidFill>
                  <a:srgbClr val="94A3B8"/>
                </a:solidFill>
                <a:latin typeface="맑은 고딕" panose="020B0503020000020004" pitchFamily="50" charset="-127"/>
              </a:rPr>
              <a:t>시 구간별 발생 건수 분포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5FA41D-EBE9-D87A-4630-2A697B3136CB}"/>
              </a:ext>
            </a:extLst>
          </p:cNvPr>
          <p:cNvSpPr txBox="1"/>
          <p:nvPr/>
        </p:nvSpPr>
        <p:spPr>
          <a:xfrm>
            <a:off x="10414000" y="254000"/>
            <a:ext cx="165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1100" b="1">
                <a:solidFill>
                  <a:srgbClr val="94A3B8"/>
                </a:solidFill>
                <a:latin typeface="맑은 고딕" panose="020B0503020000020004" pitchFamily="50" charset="-127"/>
              </a:rPr>
              <a:t>한국도로공사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912B4C-6CC9-BE2C-F37F-E8FF156E4A70}"/>
              </a:ext>
            </a:extLst>
          </p:cNvPr>
          <p:cNvSpPr txBox="1"/>
          <p:nvPr/>
        </p:nvSpPr>
        <p:spPr>
          <a:xfrm>
            <a:off x="304800" y="10160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 b="1">
                <a:solidFill>
                  <a:srgbClr val="94A3B8"/>
                </a:solidFill>
                <a:latin typeface="맑은 고딕" panose="020B0503020000020004" pitchFamily="50" charset="-127"/>
              </a:rPr>
              <a:t>▌ 시간대별 발생 건수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09CD2A4-19A6-BC25-B5FF-694E0F846AE0}"/>
              </a:ext>
            </a:extLst>
          </p:cNvPr>
          <p:cNvSpPr/>
          <p:nvPr/>
        </p:nvSpPr>
        <p:spPr>
          <a:xfrm>
            <a:off x="304800" y="2971800"/>
            <a:ext cx="406400" cy="6858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DE774B-9FAB-ECEF-7CBF-24D20FCE1D51}"/>
              </a:ext>
            </a:extLst>
          </p:cNvPr>
          <p:cNvSpPr txBox="1"/>
          <p:nvPr/>
        </p:nvSpPr>
        <p:spPr>
          <a:xfrm>
            <a:off x="304800" y="27432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700" b="1">
                <a:solidFill>
                  <a:srgbClr val="3B82F6"/>
                </a:solidFill>
                <a:latin typeface="맑은 고딕" panose="020B0503020000020004" pitchFamily="50" charset="-127"/>
              </a:rPr>
              <a:t>3</a:t>
            </a:r>
            <a:endParaRPr lang="ko-KR" altLang="en-US" sz="700" b="1">
              <a:solidFill>
                <a:srgbClr val="3B82F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BFD376-8F72-AE2F-E0B1-8FDC5C2E9F6F}"/>
              </a:ext>
            </a:extLst>
          </p:cNvPr>
          <p:cNvSpPr txBox="1"/>
          <p:nvPr/>
        </p:nvSpPr>
        <p:spPr>
          <a:xfrm>
            <a:off x="304800" y="37084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700">
                <a:solidFill>
                  <a:srgbClr val="94A3B8"/>
                </a:solidFill>
                <a:latin typeface="맑은 고딕" panose="020B0503020000020004" pitchFamily="50" charset="-127"/>
              </a:rPr>
              <a:t>0</a:t>
            </a:r>
            <a:r>
              <a:rPr lang="ko-KR" altLang="en-US" sz="700">
                <a:solidFill>
                  <a:srgbClr val="94A3B8"/>
                </a:solidFill>
                <a:latin typeface="맑은 고딕" panose="020B0503020000020004" pitchFamily="50" charset="-127"/>
              </a:rPr>
              <a:t>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736FD44-8AF9-CFC1-8A89-6EFF630A2C2D}"/>
              </a:ext>
            </a:extLst>
          </p:cNvPr>
          <p:cNvSpPr/>
          <p:nvPr/>
        </p:nvSpPr>
        <p:spPr>
          <a:xfrm>
            <a:off x="787400" y="2514600"/>
            <a:ext cx="406400" cy="11430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F8D06F-1E8D-4387-8087-C996FD633582}"/>
              </a:ext>
            </a:extLst>
          </p:cNvPr>
          <p:cNvSpPr txBox="1"/>
          <p:nvPr/>
        </p:nvSpPr>
        <p:spPr>
          <a:xfrm>
            <a:off x="787400" y="22860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700" b="1">
                <a:solidFill>
                  <a:srgbClr val="3B82F6"/>
                </a:solidFill>
                <a:latin typeface="맑은 고딕" panose="020B0503020000020004" pitchFamily="50" charset="-127"/>
              </a:rPr>
              <a:t>5</a:t>
            </a:r>
            <a:endParaRPr lang="ko-KR" altLang="en-US" sz="700" b="1">
              <a:solidFill>
                <a:srgbClr val="3B82F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40E944-3E54-C6E2-9DC7-A2E18F2E71B2}"/>
              </a:ext>
            </a:extLst>
          </p:cNvPr>
          <p:cNvSpPr txBox="1"/>
          <p:nvPr/>
        </p:nvSpPr>
        <p:spPr>
          <a:xfrm>
            <a:off x="787400" y="37084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700">
                <a:solidFill>
                  <a:srgbClr val="94A3B8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700">
                <a:solidFill>
                  <a:srgbClr val="94A3B8"/>
                </a:solidFill>
                <a:latin typeface="맑은 고딕" panose="020B0503020000020004" pitchFamily="50" charset="-127"/>
              </a:rPr>
              <a:t>시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CAC8FBC-F4A6-3951-F7DE-6C197D7147E9}"/>
              </a:ext>
            </a:extLst>
          </p:cNvPr>
          <p:cNvSpPr/>
          <p:nvPr/>
        </p:nvSpPr>
        <p:spPr>
          <a:xfrm>
            <a:off x="1270000" y="1600200"/>
            <a:ext cx="406400" cy="20574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A3265A-40D4-2600-A75C-A29C890E4129}"/>
              </a:ext>
            </a:extLst>
          </p:cNvPr>
          <p:cNvSpPr txBox="1"/>
          <p:nvPr/>
        </p:nvSpPr>
        <p:spPr>
          <a:xfrm>
            <a:off x="1270000" y="13716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700" b="1">
                <a:solidFill>
                  <a:srgbClr val="3B82F6"/>
                </a:solidFill>
                <a:latin typeface="맑은 고딕" panose="020B0503020000020004" pitchFamily="50" charset="-127"/>
              </a:rPr>
              <a:t>9</a:t>
            </a:r>
            <a:endParaRPr lang="ko-KR" altLang="en-US" sz="700" b="1">
              <a:solidFill>
                <a:srgbClr val="3B82F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40C626-4B6A-3F2E-54AB-AA0C3B0ECE50}"/>
              </a:ext>
            </a:extLst>
          </p:cNvPr>
          <p:cNvSpPr txBox="1"/>
          <p:nvPr/>
        </p:nvSpPr>
        <p:spPr>
          <a:xfrm>
            <a:off x="1270000" y="37084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700">
                <a:solidFill>
                  <a:srgbClr val="94A3B8"/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700">
                <a:solidFill>
                  <a:srgbClr val="94A3B8"/>
                </a:solidFill>
                <a:latin typeface="맑은 고딕" panose="020B0503020000020004" pitchFamily="50" charset="-127"/>
              </a:rPr>
              <a:t>시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059D48D-73A2-E4CC-F343-BADE3564C676}"/>
              </a:ext>
            </a:extLst>
          </p:cNvPr>
          <p:cNvSpPr/>
          <p:nvPr/>
        </p:nvSpPr>
        <p:spPr>
          <a:xfrm>
            <a:off x="1752600" y="2743200"/>
            <a:ext cx="406400" cy="9144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C7C810-08C7-F1B7-8614-9E98B99DF128}"/>
              </a:ext>
            </a:extLst>
          </p:cNvPr>
          <p:cNvSpPr txBox="1"/>
          <p:nvPr/>
        </p:nvSpPr>
        <p:spPr>
          <a:xfrm>
            <a:off x="1752600" y="25146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700" b="1">
                <a:solidFill>
                  <a:srgbClr val="3B82F6"/>
                </a:solidFill>
                <a:latin typeface="맑은 고딕" panose="020B0503020000020004" pitchFamily="50" charset="-127"/>
              </a:rPr>
              <a:t>4</a:t>
            </a:r>
            <a:endParaRPr lang="ko-KR" altLang="en-US" sz="700" b="1">
              <a:solidFill>
                <a:srgbClr val="3B82F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FE9530-0160-1896-EE94-FEC92C594A89}"/>
              </a:ext>
            </a:extLst>
          </p:cNvPr>
          <p:cNvSpPr txBox="1"/>
          <p:nvPr/>
        </p:nvSpPr>
        <p:spPr>
          <a:xfrm>
            <a:off x="1752600" y="37084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700">
                <a:solidFill>
                  <a:srgbClr val="94A3B8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700">
                <a:solidFill>
                  <a:srgbClr val="94A3B8"/>
                </a:solidFill>
                <a:latin typeface="맑은 고딕" panose="020B0503020000020004" pitchFamily="50" charset="-127"/>
              </a:rPr>
              <a:t>시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B0B45B8-3611-3195-2C04-1BD995B96995}"/>
              </a:ext>
            </a:extLst>
          </p:cNvPr>
          <p:cNvSpPr/>
          <p:nvPr/>
        </p:nvSpPr>
        <p:spPr>
          <a:xfrm>
            <a:off x="2235200" y="1828800"/>
            <a:ext cx="406400" cy="18288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779B90-5743-9CE2-067A-927E79AF048F}"/>
              </a:ext>
            </a:extLst>
          </p:cNvPr>
          <p:cNvSpPr txBox="1"/>
          <p:nvPr/>
        </p:nvSpPr>
        <p:spPr>
          <a:xfrm>
            <a:off x="2235200" y="16002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700" b="1">
                <a:solidFill>
                  <a:srgbClr val="3B82F6"/>
                </a:solidFill>
                <a:latin typeface="맑은 고딕" panose="020B0503020000020004" pitchFamily="50" charset="-127"/>
              </a:rPr>
              <a:t>8</a:t>
            </a:r>
            <a:endParaRPr lang="ko-KR" altLang="en-US" sz="700" b="1">
              <a:solidFill>
                <a:srgbClr val="3B82F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9FD36D-8C7C-9109-E54A-B85081253401}"/>
              </a:ext>
            </a:extLst>
          </p:cNvPr>
          <p:cNvSpPr txBox="1"/>
          <p:nvPr/>
        </p:nvSpPr>
        <p:spPr>
          <a:xfrm>
            <a:off x="2235200" y="37084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700">
                <a:solidFill>
                  <a:srgbClr val="94A3B8"/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700">
                <a:solidFill>
                  <a:srgbClr val="94A3B8"/>
                </a:solidFill>
                <a:latin typeface="맑은 고딕" panose="020B0503020000020004" pitchFamily="50" charset="-127"/>
              </a:rPr>
              <a:t>시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C20CD1C-C335-2437-8CBF-404928650313}"/>
              </a:ext>
            </a:extLst>
          </p:cNvPr>
          <p:cNvSpPr/>
          <p:nvPr/>
        </p:nvSpPr>
        <p:spPr>
          <a:xfrm>
            <a:off x="2717800" y="2971800"/>
            <a:ext cx="406400" cy="6858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A54948-6268-A2E5-44FD-C8C7A14778B6}"/>
              </a:ext>
            </a:extLst>
          </p:cNvPr>
          <p:cNvSpPr txBox="1"/>
          <p:nvPr/>
        </p:nvSpPr>
        <p:spPr>
          <a:xfrm>
            <a:off x="2717800" y="27432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700" b="1">
                <a:solidFill>
                  <a:srgbClr val="3B82F6"/>
                </a:solidFill>
                <a:latin typeface="맑은 고딕" panose="020B0503020000020004" pitchFamily="50" charset="-127"/>
              </a:rPr>
              <a:t>3</a:t>
            </a:r>
            <a:endParaRPr lang="ko-KR" altLang="en-US" sz="700" b="1">
              <a:solidFill>
                <a:srgbClr val="3B82F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4B5D93-3A9E-7A08-B396-509F6563C801}"/>
              </a:ext>
            </a:extLst>
          </p:cNvPr>
          <p:cNvSpPr txBox="1"/>
          <p:nvPr/>
        </p:nvSpPr>
        <p:spPr>
          <a:xfrm>
            <a:off x="2717800" y="37084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700">
                <a:solidFill>
                  <a:srgbClr val="94A3B8"/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700">
                <a:solidFill>
                  <a:srgbClr val="94A3B8"/>
                </a:solidFill>
                <a:latin typeface="맑은 고딕" panose="020B0503020000020004" pitchFamily="50" charset="-127"/>
              </a:rPr>
              <a:t>시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2C15831-8A23-DD6F-22C3-6DB213CFDB84}"/>
              </a:ext>
            </a:extLst>
          </p:cNvPr>
          <p:cNvSpPr/>
          <p:nvPr/>
        </p:nvSpPr>
        <p:spPr>
          <a:xfrm>
            <a:off x="3200400" y="2743200"/>
            <a:ext cx="406400" cy="9144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737774-A528-506A-7997-717B95B7980E}"/>
              </a:ext>
            </a:extLst>
          </p:cNvPr>
          <p:cNvSpPr txBox="1"/>
          <p:nvPr/>
        </p:nvSpPr>
        <p:spPr>
          <a:xfrm>
            <a:off x="3200400" y="25146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700" b="1">
                <a:solidFill>
                  <a:srgbClr val="3B82F6"/>
                </a:solidFill>
                <a:latin typeface="맑은 고딕" panose="020B0503020000020004" pitchFamily="50" charset="-127"/>
              </a:rPr>
              <a:t>4</a:t>
            </a:r>
            <a:endParaRPr lang="ko-KR" altLang="en-US" sz="700" b="1">
              <a:solidFill>
                <a:srgbClr val="3B82F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59ABDE-B372-B5E7-9158-5F46A813A684}"/>
              </a:ext>
            </a:extLst>
          </p:cNvPr>
          <p:cNvSpPr txBox="1"/>
          <p:nvPr/>
        </p:nvSpPr>
        <p:spPr>
          <a:xfrm>
            <a:off x="3200400" y="37084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700">
                <a:solidFill>
                  <a:srgbClr val="94A3B8"/>
                </a:solidFill>
                <a:latin typeface="맑은 고딕" panose="020B0503020000020004" pitchFamily="50" charset="-127"/>
              </a:rPr>
              <a:t>6</a:t>
            </a:r>
            <a:r>
              <a:rPr lang="ko-KR" altLang="en-US" sz="700">
                <a:solidFill>
                  <a:srgbClr val="94A3B8"/>
                </a:solidFill>
                <a:latin typeface="맑은 고딕" panose="020B0503020000020004" pitchFamily="50" charset="-127"/>
              </a:rPr>
              <a:t>시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68288BF-1A35-D0AE-8812-7074A9E96DE4}"/>
              </a:ext>
            </a:extLst>
          </p:cNvPr>
          <p:cNvSpPr/>
          <p:nvPr/>
        </p:nvSpPr>
        <p:spPr>
          <a:xfrm>
            <a:off x="3683000" y="2743200"/>
            <a:ext cx="406400" cy="914400"/>
          </a:xfrm>
          <a:prstGeom prst="rect">
            <a:avLst/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7AD9A1-E580-B231-7165-8DCE4E32401D}"/>
              </a:ext>
            </a:extLst>
          </p:cNvPr>
          <p:cNvSpPr txBox="1"/>
          <p:nvPr/>
        </p:nvSpPr>
        <p:spPr>
          <a:xfrm>
            <a:off x="3683000" y="25146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700" b="1">
                <a:solidFill>
                  <a:srgbClr val="EF4444"/>
                </a:solidFill>
                <a:latin typeface="맑은 고딕" panose="020B0503020000020004" pitchFamily="50" charset="-127"/>
              </a:rPr>
              <a:t>4</a:t>
            </a:r>
            <a:endParaRPr lang="ko-KR" altLang="en-US" sz="700" b="1">
              <a:solidFill>
                <a:srgbClr val="EF444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AF66DD-C5DA-5580-7FC9-AF1B0FF26EC1}"/>
              </a:ext>
            </a:extLst>
          </p:cNvPr>
          <p:cNvSpPr txBox="1"/>
          <p:nvPr/>
        </p:nvSpPr>
        <p:spPr>
          <a:xfrm>
            <a:off x="3683000" y="37084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700">
                <a:solidFill>
                  <a:srgbClr val="94A3B8"/>
                </a:solidFill>
                <a:latin typeface="맑은 고딕" panose="020B0503020000020004" pitchFamily="50" charset="-127"/>
              </a:rPr>
              <a:t>7</a:t>
            </a:r>
            <a:r>
              <a:rPr lang="ko-KR" altLang="en-US" sz="700">
                <a:solidFill>
                  <a:srgbClr val="94A3B8"/>
                </a:solidFill>
                <a:latin typeface="맑은 고딕" panose="020B0503020000020004" pitchFamily="50" charset="-127"/>
              </a:rPr>
              <a:t>시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AEB03A1-17EA-BE03-C069-FD9430DF8187}"/>
              </a:ext>
            </a:extLst>
          </p:cNvPr>
          <p:cNvSpPr/>
          <p:nvPr/>
        </p:nvSpPr>
        <p:spPr>
          <a:xfrm>
            <a:off x="4165600" y="3429000"/>
            <a:ext cx="406400" cy="228600"/>
          </a:xfrm>
          <a:prstGeom prst="rect">
            <a:avLst/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D1384B5-115F-89A3-760A-359337FA9C2B}"/>
              </a:ext>
            </a:extLst>
          </p:cNvPr>
          <p:cNvSpPr txBox="1"/>
          <p:nvPr/>
        </p:nvSpPr>
        <p:spPr>
          <a:xfrm>
            <a:off x="4165600" y="32004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700" b="1">
                <a:solidFill>
                  <a:srgbClr val="EF4444"/>
                </a:solidFill>
                <a:latin typeface="맑은 고딕" panose="020B0503020000020004" pitchFamily="50" charset="-127"/>
              </a:rPr>
              <a:t>1</a:t>
            </a:r>
            <a:endParaRPr lang="ko-KR" altLang="en-US" sz="700" b="1">
              <a:solidFill>
                <a:srgbClr val="EF444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5638EAD-EB75-A582-6229-58C96D84BEB5}"/>
              </a:ext>
            </a:extLst>
          </p:cNvPr>
          <p:cNvSpPr txBox="1"/>
          <p:nvPr/>
        </p:nvSpPr>
        <p:spPr>
          <a:xfrm>
            <a:off x="4165600" y="37084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700">
                <a:solidFill>
                  <a:srgbClr val="94A3B8"/>
                </a:solidFill>
                <a:latin typeface="맑은 고딕" panose="020B0503020000020004" pitchFamily="50" charset="-127"/>
              </a:rPr>
              <a:t>8</a:t>
            </a:r>
            <a:r>
              <a:rPr lang="ko-KR" altLang="en-US" sz="700">
                <a:solidFill>
                  <a:srgbClr val="94A3B8"/>
                </a:solidFill>
                <a:latin typeface="맑은 고딕" panose="020B0503020000020004" pitchFamily="50" charset="-127"/>
              </a:rPr>
              <a:t>시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8DC4B7E-0658-670D-F829-98F09F5F2D53}"/>
              </a:ext>
            </a:extLst>
          </p:cNvPr>
          <p:cNvSpPr/>
          <p:nvPr/>
        </p:nvSpPr>
        <p:spPr>
          <a:xfrm>
            <a:off x="4648200" y="2971800"/>
            <a:ext cx="406400" cy="685800"/>
          </a:xfrm>
          <a:prstGeom prst="rect">
            <a:avLst/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9368D2D-F8C0-8FCF-A836-05AEEF7DE56C}"/>
              </a:ext>
            </a:extLst>
          </p:cNvPr>
          <p:cNvSpPr txBox="1"/>
          <p:nvPr/>
        </p:nvSpPr>
        <p:spPr>
          <a:xfrm>
            <a:off x="4648200" y="27432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700" b="1">
                <a:solidFill>
                  <a:srgbClr val="EF4444"/>
                </a:solidFill>
                <a:latin typeface="맑은 고딕" panose="020B0503020000020004" pitchFamily="50" charset="-127"/>
              </a:rPr>
              <a:t>3</a:t>
            </a:r>
            <a:endParaRPr lang="ko-KR" altLang="en-US" sz="700" b="1">
              <a:solidFill>
                <a:srgbClr val="EF444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02A428B-26FB-DB59-A36E-1A70DDC68733}"/>
              </a:ext>
            </a:extLst>
          </p:cNvPr>
          <p:cNvSpPr txBox="1"/>
          <p:nvPr/>
        </p:nvSpPr>
        <p:spPr>
          <a:xfrm>
            <a:off x="4648200" y="37084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700">
                <a:solidFill>
                  <a:srgbClr val="94A3B8"/>
                </a:solidFill>
                <a:latin typeface="맑은 고딕" panose="020B0503020000020004" pitchFamily="50" charset="-127"/>
              </a:rPr>
              <a:t>9</a:t>
            </a:r>
            <a:r>
              <a:rPr lang="ko-KR" altLang="en-US" sz="700">
                <a:solidFill>
                  <a:srgbClr val="94A3B8"/>
                </a:solidFill>
                <a:latin typeface="맑은 고딕" panose="020B0503020000020004" pitchFamily="50" charset="-127"/>
              </a:rPr>
              <a:t>시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370DA92-F56B-701E-219E-36C2AAEB8281}"/>
              </a:ext>
            </a:extLst>
          </p:cNvPr>
          <p:cNvSpPr/>
          <p:nvPr/>
        </p:nvSpPr>
        <p:spPr>
          <a:xfrm>
            <a:off x="5130800" y="1828800"/>
            <a:ext cx="406400" cy="18288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09DD447-21D0-3843-FA74-A1BA95F64720}"/>
              </a:ext>
            </a:extLst>
          </p:cNvPr>
          <p:cNvSpPr txBox="1"/>
          <p:nvPr/>
        </p:nvSpPr>
        <p:spPr>
          <a:xfrm>
            <a:off x="5130800" y="16002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700" b="1">
                <a:solidFill>
                  <a:srgbClr val="F59E0B"/>
                </a:solidFill>
                <a:latin typeface="맑은 고딕" panose="020B0503020000020004" pitchFamily="50" charset="-127"/>
              </a:rPr>
              <a:t>8</a:t>
            </a:r>
            <a:endParaRPr lang="ko-KR" altLang="en-US" sz="700" b="1">
              <a:solidFill>
                <a:srgbClr val="F59E0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42AC14D-CEF2-F6D1-B9EC-302DBE1B2CC9}"/>
              </a:ext>
            </a:extLst>
          </p:cNvPr>
          <p:cNvSpPr txBox="1"/>
          <p:nvPr/>
        </p:nvSpPr>
        <p:spPr>
          <a:xfrm>
            <a:off x="5130800" y="37084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700">
                <a:solidFill>
                  <a:srgbClr val="94A3B8"/>
                </a:solidFill>
                <a:latin typeface="맑은 고딕" panose="020B0503020000020004" pitchFamily="50" charset="-127"/>
              </a:rPr>
              <a:t>10</a:t>
            </a:r>
            <a:r>
              <a:rPr lang="ko-KR" altLang="en-US" sz="700">
                <a:solidFill>
                  <a:srgbClr val="94A3B8"/>
                </a:solidFill>
                <a:latin typeface="맑은 고딕" panose="020B0503020000020004" pitchFamily="50" charset="-127"/>
              </a:rPr>
              <a:t>시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F19CB594-E778-E2CC-24BA-F5BB9F6D18A5}"/>
              </a:ext>
            </a:extLst>
          </p:cNvPr>
          <p:cNvSpPr/>
          <p:nvPr/>
        </p:nvSpPr>
        <p:spPr>
          <a:xfrm>
            <a:off x="5613400" y="1828800"/>
            <a:ext cx="406400" cy="18288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7BCEB1-D48B-AB80-D563-C215F183033A}"/>
              </a:ext>
            </a:extLst>
          </p:cNvPr>
          <p:cNvSpPr txBox="1"/>
          <p:nvPr/>
        </p:nvSpPr>
        <p:spPr>
          <a:xfrm>
            <a:off x="5613400" y="16002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700" b="1">
                <a:solidFill>
                  <a:srgbClr val="F59E0B"/>
                </a:solidFill>
                <a:latin typeface="맑은 고딕" panose="020B0503020000020004" pitchFamily="50" charset="-127"/>
              </a:rPr>
              <a:t>8</a:t>
            </a:r>
            <a:endParaRPr lang="ko-KR" altLang="en-US" sz="700" b="1">
              <a:solidFill>
                <a:srgbClr val="F59E0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0F9723B-9F22-C9F9-7563-03054EBF9B7F}"/>
              </a:ext>
            </a:extLst>
          </p:cNvPr>
          <p:cNvSpPr txBox="1"/>
          <p:nvPr/>
        </p:nvSpPr>
        <p:spPr>
          <a:xfrm>
            <a:off x="5613400" y="37084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700">
                <a:solidFill>
                  <a:srgbClr val="94A3B8"/>
                </a:solidFill>
                <a:latin typeface="맑은 고딕" panose="020B0503020000020004" pitchFamily="50" charset="-127"/>
              </a:rPr>
              <a:t>11</a:t>
            </a:r>
            <a:r>
              <a:rPr lang="ko-KR" altLang="en-US" sz="700">
                <a:solidFill>
                  <a:srgbClr val="94A3B8"/>
                </a:solidFill>
                <a:latin typeface="맑은 고딕" panose="020B0503020000020004" pitchFamily="50" charset="-127"/>
              </a:rPr>
              <a:t>시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A18A82D7-0CD9-405C-04A0-75F979E9A1A3}"/>
              </a:ext>
            </a:extLst>
          </p:cNvPr>
          <p:cNvSpPr/>
          <p:nvPr/>
        </p:nvSpPr>
        <p:spPr>
          <a:xfrm>
            <a:off x="6096000" y="1828800"/>
            <a:ext cx="406400" cy="18288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2567201-ED32-DEE3-B171-0816BD251D5F}"/>
              </a:ext>
            </a:extLst>
          </p:cNvPr>
          <p:cNvSpPr txBox="1"/>
          <p:nvPr/>
        </p:nvSpPr>
        <p:spPr>
          <a:xfrm>
            <a:off x="6096000" y="16002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700" b="1">
                <a:solidFill>
                  <a:srgbClr val="F59E0B"/>
                </a:solidFill>
                <a:latin typeface="맑은 고딕" panose="020B0503020000020004" pitchFamily="50" charset="-127"/>
              </a:rPr>
              <a:t>8</a:t>
            </a:r>
            <a:endParaRPr lang="ko-KR" altLang="en-US" sz="700" b="1">
              <a:solidFill>
                <a:srgbClr val="F59E0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DC90C32-8B09-3663-58B7-BF991F04E838}"/>
              </a:ext>
            </a:extLst>
          </p:cNvPr>
          <p:cNvSpPr txBox="1"/>
          <p:nvPr/>
        </p:nvSpPr>
        <p:spPr>
          <a:xfrm>
            <a:off x="6096000" y="37084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700">
                <a:solidFill>
                  <a:srgbClr val="94A3B8"/>
                </a:solidFill>
                <a:latin typeface="맑은 고딕" panose="020B0503020000020004" pitchFamily="50" charset="-127"/>
              </a:rPr>
              <a:t>12</a:t>
            </a:r>
            <a:r>
              <a:rPr lang="ko-KR" altLang="en-US" sz="700">
                <a:solidFill>
                  <a:srgbClr val="94A3B8"/>
                </a:solidFill>
                <a:latin typeface="맑은 고딕" panose="020B0503020000020004" pitchFamily="50" charset="-127"/>
              </a:rPr>
              <a:t>시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8326887-7F95-CF26-98F4-5667BD25AD1D}"/>
              </a:ext>
            </a:extLst>
          </p:cNvPr>
          <p:cNvSpPr/>
          <p:nvPr/>
        </p:nvSpPr>
        <p:spPr>
          <a:xfrm>
            <a:off x="6578600" y="1371600"/>
            <a:ext cx="406400" cy="2286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5C40117-85BC-00B1-72EE-90300146BD99}"/>
              </a:ext>
            </a:extLst>
          </p:cNvPr>
          <p:cNvSpPr txBox="1"/>
          <p:nvPr/>
        </p:nvSpPr>
        <p:spPr>
          <a:xfrm>
            <a:off x="6578600" y="11430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700" b="1">
                <a:solidFill>
                  <a:srgbClr val="F59E0B"/>
                </a:solidFill>
                <a:latin typeface="맑은 고딕" panose="020B0503020000020004" pitchFamily="50" charset="-127"/>
              </a:rPr>
              <a:t>10</a:t>
            </a:r>
            <a:endParaRPr lang="ko-KR" altLang="en-US" sz="700" b="1">
              <a:solidFill>
                <a:srgbClr val="F59E0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0B23A0F-E751-7E63-C98E-0AB47E8D49B6}"/>
              </a:ext>
            </a:extLst>
          </p:cNvPr>
          <p:cNvSpPr txBox="1"/>
          <p:nvPr/>
        </p:nvSpPr>
        <p:spPr>
          <a:xfrm>
            <a:off x="6578600" y="37084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700">
                <a:solidFill>
                  <a:srgbClr val="94A3B8"/>
                </a:solidFill>
                <a:latin typeface="맑은 고딕" panose="020B0503020000020004" pitchFamily="50" charset="-127"/>
              </a:rPr>
              <a:t>13</a:t>
            </a:r>
            <a:r>
              <a:rPr lang="ko-KR" altLang="en-US" sz="700">
                <a:solidFill>
                  <a:srgbClr val="94A3B8"/>
                </a:solidFill>
                <a:latin typeface="맑은 고딕" panose="020B0503020000020004" pitchFamily="50" charset="-127"/>
              </a:rPr>
              <a:t>시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166DA2C7-6B6D-229A-E0BD-CDD8FB4DAE35}"/>
              </a:ext>
            </a:extLst>
          </p:cNvPr>
          <p:cNvSpPr/>
          <p:nvPr/>
        </p:nvSpPr>
        <p:spPr>
          <a:xfrm>
            <a:off x="7061200" y="3200400"/>
            <a:ext cx="406400" cy="4572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6837C15-D5E6-7CDA-1A84-70B6FE628B0E}"/>
              </a:ext>
            </a:extLst>
          </p:cNvPr>
          <p:cNvSpPr txBox="1"/>
          <p:nvPr/>
        </p:nvSpPr>
        <p:spPr>
          <a:xfrm>
            <a:off x="7061200" y="29718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700" b="1">
                <a:solidFill>
                  <a:srgbClr val="3B82F6"/>
                </a:solidFill>
                <a:latin typeface="맑은 고딕" panose="020B0503020000020004" pitchFamily="50" charset="-127"/>
              </a:rPr>
              <a:t>2</a:t>
            </a:r>
            <a:endParaRPr lang="ko-KR" altLang="en-US" sz="700" b="1">
              <a:solidFill>
                <a:srgbClr val="3B82F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E21CF28-C2F4-B93A-E7C7-1210BE0A22DB}"/>
              </a:ext>
            </a:extLst>
          </p:cNvPr>
          <p:cNvSpPr txBox="1"/>
          <p:nvPr/>
        </p:nvSpPr>
        <p:spPr>
          <a:xfrm>
            <a:off x="7061200" y="37084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700">
                <a:solidFill>
                  <a:srgbClr val="94A3B8"/>
                </a:solidFill>
                <a:latin typeface="맑은 고딕" panose="020B0503020000020004" pitchFamily="50" charset="-127"/>
              </a:rPr>
              <a:t>14</a:t>
            </a:r>
            <a:r>
              <a:rPr lang="ko-KR" altLang="en-US" sz="700">
                <a:solidFill>
                  <a:srgbClr val="94A3B8"/>
                </a:solidFill>
                <a:latin typeface="맑은 고딕" panose="020B0503020000020004" pitchFamily="50" charset="-127"/>
              </a:rPr>
              <a:t>시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FD6E7FC9-7ADC-1BEF-A2E0-AD058D839221}"/>
              </a:ext>
            </a:extLst>
          </p:cNvPr>
          <p:cNvSpPr/>
          <p:nvPr/>
        </p:nvSpPr>
        <p:spPr>
          <a:xfrm>
            <a:off x="7543800" y="2743200"/>
            <a:ext cx="406400" cy="9144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3D2AEEC-BAF4-1276-C67E-A8FE19E4BBF0}"/>
              </a:ext>
            </a:extLst>
          </p:cNvPr>
          <p:cNvSpPr txBox="1"/>
          <p:nvPr/>
        </p:nvSpPr>
        <p:spPr>
          <a:xfrm>
            <a:off x="7543800" y="25146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700" b="1">
                <a:solidFill>
                  <a:srgbClr val="3B82F6"/>
                </a:solidFill>
                <a:latin typeface="맑은 고딕" panose="020B0503020000020004" pitchFamily="50" charset="-127"/>
              </a:rPr>
              <a:t>4</a:t>
            </a:r>
            <a:endParaRPr lang="ko-KR" altLang="en-US" sz="700" b="1">
              <a:solidFill>
                <a:srgbClr val="3B82F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77453CB-0206-3B4F-2ADE-1E70C7566594}"/>
              </a:ext>
            </a:extLst>
          </p:cNvPr>
          <p:cNvSpPr txBox="1"/>
          <p:nvPr/>
        </p:nvSpPr>
        <p:spPr>
          <a:xfrm>
            <a:off x="7543800" y="37084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700">
                <a:solidFill>
                  <a:srgbClr val="94A3B8"/>
                </a:solidFill>
                <a:latin typeface="맑은 고딕" panose="020B0503020000020004" pitchFamily="50" charset="-127"/>
              </a:rPr>
              <a:t>15</a:t>
            </a:r>
            <a:r>
              <a:rPr lang="ko-KR" altLang="en-US" sz="700">
                <a:solidFill>
                  <a:srgbClr val="94A3B8"/>
                </a:solidFill>
                <a:latin typeface="맑은 고딕" panose="020B0503020000020004" pitchFamily="50" charset="-127"/>
              </a:rPr>
              <a:t>시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9B78AD50-9442-AA03-108B-DA5C9DFF2698}"/>
              </a:ext>
            </a:extLst>
          </p:cNvPr>
          <p:cNvSpPr/>
          <p:nvPr/>
        </p:nvSpPr>
        <p:spPr>
          <a:xfrm>
            <a:off x="8026400" y="3200400"/>
            <a:ext cx="406400" cy="4572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F74DAED-5C9F-C150-1898-AD3DE6AC1BFC}"/>
              </a:ext>
            </a:extLst>
          </p:cNvPr>
          <p:cNvSpPr txBox="1"/>
          <p:nvPr/>
        </p:nvSpPr>
        <p:spPr>
          <a:xfrm>
            <a:off x="8026400" y="29718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700" b="1">
                <a:solidFill>
                  <a:srgbClr val="3B82F6"/>
                </a:solidFill>
                <a:latin typeface="맑은 고딕" panose="020B0503020000020004" pitchFamily="50" charset="-127"/>
              </a:rPr>
              <a:t>2</a:t>
            </a:r>
            <a:endParaRPr lang="ko-KR" altLang="en-US" sz="700" b="1">
              <a:solidFill>
                <a:srgbClr val="3B82F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3EE94A0-311C-D9D1-E88E-28FEE0F661BF}"/>
              </a:ext>
            </a:extLst>
          </p:cNvPr>
          <p:cNvSpPr txBox="1"/>
          <p:nvPr/>
        </p:nvSpPr>
        <p:spPr>
          <a:xfrm>
            <a:off x="8026400" y="37084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700">
                <a:solidFill>
                  <a:srgbClr val="94A3B8"/>
                </a:solidFill>
                <a:latin typeface="맑은 고딕" panose="020B0503020000020004" pitchFamily="50" charset="-127"/>
              </a:rPr>
              <a:t>16</a:t>
            </a:r>
            <a:r>
              <a:rPr lang="ko-KR" altLang="en-US" sz="700">
                <a:solidFill>
                  <a:srgbClr val="94A3B8"/>
                </a:solidFill>
                <a:latin typeface="맑은 고딕" panose="020B0503020000020004" pitchFamily="50" charset="-127"/>
              </a:rPr>
              <a:t>시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CE12D353-30B7-CC6E-724D-62E43FFF8D05}"/>
              </a:ext>
            </a:extLst>
          </p:cNvPr>
          <p:cNvSpPr/>
          <p:nvPr/>
        </p:nvSpPr>
        <p:spPr>
          <a:xfrm>
            <a:off x="8509000" y="1828800"/>
            <a:ext cx="406400" cy="1828800"/>
          </a:xfrm>
          <a:prstGeom prst="rect">
            <a:avLst/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FAED14F-F829-B47E-3C71-DC11E6B600BB}"/>
              </a:ext>
            </a:extLst>
          </p:cNvPr>
          <p:cNvSpPr txBox="1"/>
          <p:nvPr/>
        </p:nvSpPr>
        <p:spPr>
          <a:xfrm>
            <a:off x="8509000" y="16002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700" b="1">
                <a:solidFill>
                  <a:srgbClr val="EF4444"/>
                </a:solidFill>
                <a:latin typeface="맑은 고딕" panose="020B0503020000020004" pitchFamily="50" charset="-127"/>
              </a:rPr>
              <a:t>8</a:t>
            </a:r>
            <a:endParaRPr lang="ko-KR" altLang="en-US" sz="700" b="1">
              <a:solidFill>
                <a:srgbClr val="EF444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49CE40F-2FD4-4754-FB98-B5C2687953C2}"/>
              </a:ext>
            </a:extLst>
          </p:cNvPr>
          <p:cNvSpPr txBox="1"/>
          <p:nvPr/>
        </p:nvSpPr>
        <p:spPr>
          <a:xfrm>
            <a:off x="8509000" y="37084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700">
                <a:solidFill>
                  <a:srgbClr val="94A3B8"/>
                </a:solidFill>
                <a:latin typeface="맑은 고딕" panose="020B0503020000020004" pitchFamily="50" charset="-127"/>
              </a:rPr>
              <a:t>17</a:t>
            </a:r>
            <a:r>
              <a:rPr lang="ko-KR" altLang="en-US" sz="700">
                <a:solidFill>
                  <a:srgbClr val="94A3B8"/>
                </a:solidFill>
                <a:latin typeface="맑은 고딕" panose="020B0503020000020004" pitchFamily="50" charset="-127"/>
              </a:rPr>
              <a:t>시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46CE4F3D-4CF9-9AC0-1D2C-E5CFE459B608}"/>
              </a:ext>
            </a:extLst>
          </p:cNvPr>
          <p:cNvSpPr/>
          <p:nvPr/>
        </p:nvSpPr>
        <p:spPr>
          <a:xfrm>
            <a:off x="8991600" y="2286000"/>
            <a:ext cx="406400" cy="1371600"/>
          </a:xfrm>
          <a:prstGeom prst="rect">
            <a:avLst/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59B851C-55A6-5ED4-5F6B-5E6C06516126}"/>
              </a:ext>
            </a:extLst>
          </p:cNvPr>
          <p:cNvSpPr txBox="1"/>
          <p:nvPr/>
        </p:nvSpPr>
        <p:spPr>
          <a:xfrm>
            <a:off x="8991600" y="20574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700" b="1">
                <a:solidFill>
                  <a:srgbClr val="EF4444"/>
                </a:solidFill>
                <a:latin typeface="맑은 고딕" panose="020B0503020000020004" pitchFamily="50" charset="-127"/>
              </a:rPr>
              <a:t>6</a:t>
            </a:r>
            <a:endParaRPr lang="ko-KR" altLang="en-US" sz="700" b="1">
              <a:solidFill>
                <a:srgbClr val="EF444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C12AD6E-98A6-D796-5974-9BE316CBD7C7}"/>
              </a:ext>
            </a:extLst>
          </p:cNvPr>
          <p:cNvSpPr txBox="1"/>
          <p:nvPr/>
        </p:nvSpPr>
        <p:spPr>
          <a:xfrm>
            <a:off x="8991600" y="37084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700">
                <a:solidFill>
                  <a:srgbClr val="94A3B8"/>
                </a:solidFill>
                <a:latin typeface="맑은 고딕" panose="020B0503020000020004" pitchFamily="50" charset="-127"/>
              </a:rPr>
              <a:t>18</a:t>
            </a:r>
            <a:r>
              <a:rPr lang="ko-KR" altLang="en-US" sz="700">
                <a:solidFill>
                  <a:srgbClr val="94A3B8"/>
                </a:solidFill>
                <a:latin typeface="맑은 고딕" panose="020B0503020000020004" pitchFamily="50" charset="-127"/>
              </a:rPr>
              <a:t>시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6E0B6EA7-A643-469A-13E1-F69A188EA931}"/>
              </a:ext>
            </a:extLst>
          </p:cNvPr>
          <p:cNvSpPr/>
          <p:nvPr/>
        </p:nvSpPr>
        <p:spPr>
          <a:xfrm>
            <a:off x="9474200" y="2971800"/>
            <a:ext cx="406400" cy="685800"/>
          </a:xfrm>
          <a:prstGeom prst="rect">
            <a:avLst/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ED3A85C-42DD-8E8A-0CB1-64631DF0B358}"/>
              </a:ext>
            </a:extLst>
          </p:cNvPr>
          <p:cNvSpPr txBox="1"/>
          <p:nvPr/>
        </p:nvSpPr>
        <p:spPr>
          <a:xfrm>
            <a:off x="9474200" y="27432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700" b="1">
                <a:solidFill>
                  <a:srgbClr val="EF4444"/>
                </a:solidFill>
                <a:latin typeface="맑은 고딕" panose="020B0503020000020004" pitchFamily="50" charset="-127"/>
              </a:rPr>
              <a:t>3</a:t>
            </a:r>
            <a:endParaRPr lang="ko-KR" altLang="en-US" sz="700" b="1">
              <a:solidFill>
                <a:srgbClr val="EF444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53ED01D-62B3-71DD-85DB-14CD76886E34}"/>
              </a:ext>
            </a:extLst>
          </p:cNvPr>
          <p:cNvSpPr txBox="1"/>
          <p:nvPr/>
        </p:nvSpPr>
        <p:spPr>
          <a:xfrm>
            <a:off x="9474200" y="37084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700">
                <a:solidFill>
                  <a:srgbClr val="94A3B8"/>
                </a:solidFill>
                <a:latin typeface="맑은 고딕" panose="020B0503020000020004" pitchFamily="50" charset="-127"/>
              </a:rPr>
              <a:t>19</a:t>
            </a:r>
            <a:r>
              <a:rPr lang="ko-KR" altLang="en-US" sz="700">
                <a:solidFill>
                  <a:srgbClr val="94A3B8"/>
                </a:solidFill>
                <a:latin typeface="맑은 고딕" panose="020B0503020000020004" pitchFamily="50" charset="-127"/>
              </a:rPr>
              <a:t>시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3D6ED1C8-5F5E-0159-E55B-45BA3ADCAA8D}"/>
              </a:ext>
            </a:extLst>
          </p:cNvPr>
          <p:cNvSpPr/>
          <p:nvPr/>
        </p:nvSpPr>
        <p:spPr>
          <a:xfrm>
            <a:off x="9956800" y="2971800"/>
            <a:ext cx="406400" cy="6858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8C1EDD8-2597-E2D8-2E2B-85FE631F037E}"/>
              </a:ext>
            </a:extLst>
          </p:cNvPr>
          <p:cNvSpPr txBox="1"/>
          <p:nvPr/>
        </p:nvSpPr>
        <p:spPr>
          <a:xfrm>
            <a:off x="9956800" y="27432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700" b="1">
                <a:solidFill>
                  <a:srgbClr val="3B82F6"/>
                </a:solidFill>
                <a:latin typeface="맑은 고딕" panose="020B0503020000020004" pitchFamily="50" charset="-127"/>
              </a:rPr>
              <a:t>3</a:t>
            </a:r>
            <a:endParaRPr lang="ko-KR" altLang="en-US" sz="700" b="1">
              <a:solidFill>
                <a:srgbClr val="3B82F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6EFA608-4FA5-CAD0-D2FE-28E4CFF8B88E}"/>
              </a:ext>
            </a:extLst>
          </p:cNvPr>
          <p:cNvSpPr txBox="1"/>
          <p:nvPr/>
        </p:nvSpPr>
        <p:spPr>
          <a:xfrm>
            <a:off x="9956800" y="37084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700">
                <a:solidFill>
                  <a:srgbClr val="94A3B8"/>
                </a:solidFill>
                <a:latin typeface="맑은 고딕" panose="020B0503020000020004" pitchFamily="50" charset="-127"/>
              </a:rPr>
              <a:t>20</a:t>
            </a:r>
            <a:r>
              <a:rPr lang="ko-KR" altLang="en-US" sz="700">
                <a:solidFill>
                  <a:srgbClr val="94A3B8"/>
                </a:solidFill>
                <a:latin typeface="맑은 고딕" panose="020B0503020000020004" pitchFamily="50" charset="-127"/>
              </a:rPr>
              <a:t>시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A9EF9702-F0B3-45AC-651B-22546CE7FFFB}"/>
              </a:ext>
            </a:extLst>
          </p:cNvPr>
          <p:cNvSpPr/>
          <p:nvPr/>
        </p:nvSpPr>
        <p:spPr>
          <a:xfrm>
            <a:off x="10439400" y="3200400"/>
            <a:ext cx="406400" cy="4572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7A6C6C4-142A-2673-9D7C-24BB2E6A3E4A}"/>
              </a:ext>
            </a:extLst>
          </p:cNvPr>
          <p:cNvSpPr txBox="1"/>
          <p:nvPr/>
        </p:nvSpPr>
        <p:spPr>
          <a:xfrm>
            <a:off x="10439400" y="29718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700" b="1">
                <a:solidFill>
                  <a:srgbClr val="3B82F6"/>
                </a:solidFill>
                <a:latin typeface="맑은 고딕" panose="020B0503020000020004" pitchFamily="50" charset="-127"/>
              </a:rPr>
              <a:t>2</a:t>
            </a:r>
            <a:endParaRPr lang="ko-KR" altLang="en-US" sz="700" b="1">
              <a:solidFill>
                <a:srgbClr val="3B82F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CB551F6-83EA-A29A-0645-61A238141AF1}"/>
              </a:ext>
            </a:extLst>
          </p:cNvPr>
          <p:cNvSpPr txBox="1"/>
          <p:nvPr/>
        </p:nvSpPr>
        <p:spPr>
          <a:xfrm>
            <a:off x="10439400" y="37084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700">
                <a:solidFill>
                  <a:srgbClr val="94A3B8"/>
                </a:solidFill>
                <a:latin typeface="맑은 고딕" panose="020B0503020000020004" pitchFamily="50" charset="-127"/>
              </a:rPr>
              <a:t>21</a:t>
            </a:r>
            <a:r>
              <a:rPr lang="ko-KR" altLang="en-US" sz="700">
                <a:solidFill>
                  <a:srgbClr val="94A3B8"/>
                </a:solidFill>
                <a:latin typeface="맑은 고딕" panose="020B0503020000020004" pitchFamily="50" charset="-127"/>
              </a:rPr>
              <a:t>시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B834A4F7-3E3D-B706-DE4F-BE69533AFC41}"/>
              </a:ext>
            </a:extLst>
          </p:cNvPr>
          <p:cNvSpPr/>
          <p:nvPr/>
        </p:nvSpPr>
        <p:spPr>
          <a:xfrm>
            <a:off x="10922000" y="1828800"/>
            <a:ext cx="406400" cy="18288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CDDB20A-1F5D-4615-FD5B-44D2155780AB}"/>
              </a:ext>
            </a:extLst>
          </p:cNvPr>
          <p:cNvSpPr txBox="1"/>
          <p:nvPr/>
        </p:nvSpPr>
        <p:spPr>
          <a:xfrm>
            <a:off x="10922000" y="16002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700" b="1">
                <a:solidFill>
                  <a:srgbClr val="3B82F6"/>
                </a:solidFill>
                <a:latin typeface="맑은 고딕" panose="020B0503020000020004" pitchFamily="50" charset="-127"/>
              </a:rPr>
              <a:t>8</a:t>
            </a:r>
            <a:endParaRPr lang="ko-KR" altLang="en-US" sz="700" b="1">
              <a:solidFill>
                <a:srgbClr val="3B82F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7BE8BD4-559F-25AA-727E-EA6EF044D8D3}"/>
              </a:ext>
            </a:extLst>
          </p:cNvPr>
          <p:cNvSpPr txBox="1"/>
          <p:nvPr/>
        </p:nvSpPr>
        <p:spPr>
          <a:xfrm>
            <a:off x="10922000" y="37084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700">
                <a:solidFill>
                  <a:srgbClr val="94A3B8"/>
                </a:solidFill>
                <a:latin typeface="맑은 고딕" panose="020B0503020000020004" pitchFamily="50" charset="-127"/>
              </a:rPr>
              <a:t>22</a:t>
            </a:r>
            <a:r>
              <a:rPr lang="ko-KR" altLang="en-US" sz="700">
                <a:solidFill>
                  <a:srgbClr val="94A3B8"/>
                </a:solidFill>
                <a:latin typeface="맑은 고딕" panose="020B0503020000020004" pitchFamily="50" charset="-127"/>
              </a:rPr>
              <a:t>시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72C0AD8C-B727-28D3-39EF-4A66951D34B1}"/>
              </a:ext>
            </a:extLst>
          </p:cNvPr>
          <p:cNvSpPr/>
          <p:nvPr/>
        </p:nvSpPr>
        <p:spPr>
          <a:xfrm>
            <a:off x="11404600" y="2743200"/>
            <a:ext cx="406400" cy="9144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1406841-D1CA-11E7-FDDD-C0F73DB67380}"/>
              </a:ext>
            </a:extLst>
          </p:cNvPr>
          <p:cNvSpPr txBox="1"/>
          <p:nvPr/>
        </p:nvSpPr>
        <p:spPr>
          <a:xfrm>
            <a:off x="11404600" y="25146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700" b="1">
                <a:solidFill>
                  <a:srgbClr val="3B82F6"/>
                </a:solidFill>
                <a:latin typeface="맑은 고딕" panose="020B0503020000020004" pitchFamily="50" charset="-127"/>
              </a:rPr>
              <a:t>4</a:t>
            </a:r>
            <a:endParaRPr lang="ko-KR" altLang="en-US" sz="700" b="1">
              <a:solidFill>
                <a:srgbClr val="3B82F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C25B1A8-A87B-38FA-4A0E-9AEB5F7BC9A7}"/>
              </a:ext>
            </a:extLst>
          </p:cNvPr>
          <p:cNvSpPr txBox="1"/>
          <p:nvPr/>
        </p:nvSpPr>
        <p:spPr>
          <a:xfrm>
            <a:off x="11404600" y="3708400"/>
            <a:ext cx="40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700">
                <a:solidFill>
                  <a:srgbClr val="94A3B8"/>
                </a:solidFill>
                <a:latin typeface="맑은 고딕" panose="020B0503020000020004" pitchFamily="50" charset="-127"/>
              </a:rPr>
              <a:t>23</a:t>
            </a:r>
            <a:r>
              <a:rPr lang="ko-KR" altLang="en-US" sz="700">
                <a:solidFill>
                  <a:srgbClr val="94A3B8"/>
                </a:solidFill>
                <a:latin typeface="맑은 고딕" panose="020B0503020000020004" pitchFamily="50" charset="-127"/>
              </a:rPr>
              <a:t>시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9678EBDB-12FE-776A-F8F0-7703FE73720B}"/>
              </a:ext>
            </a:extLst>
          </p:cNvPr>
          <p:cNvSpPr/>
          <p:nvPr/>
        </p:nvSpPr>
        <p:spPr>
          <a:xfrm>
            <a:off x="304800" y="3683000"/>
            <a:ext cx="11582400" cy="254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F4F78279-5101-334F-C216-7F82FFEBE4F1}"/>
              </a:ext>
            </a:extLst>
          </p:cNvPr>
          <p:cNvSpPr/>
          <p:nvPr/>
        </p:nvSpPr>
        <p:spPr>
          <a:xfrm>
            <a:off x="304800" y="4064000"/>
            <a:ext cx="2540000" cy="254000"/>
          </a:xfrm>
          <a:prstGeom prst="rect">
            <a:avLst/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67CBDFD-48BE-B3A7-0D31-CD82534DAB57}"/>
              </a:ext>
            </a:extLst>
          </p:cNvPr>
          <p:cNvSpPr txBox="1"/>
          <p:nvPr/>
        </p:nvSpPr>
        <p:spPr>
          <a:xfrm>
            <a:off x="381000" y="40894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800">
                <a:solidFill>
                  <a:srgbClr val="FFFFFF"/>
                </a:solidFill>
                <a:latin typeface="맑은 고딕" panose="020B0503020000020004" pitchFamily="50" charset="-127"/>
              </a:rPr>
              <a:t>출퇴근 혼잡 </a:t>
            </a:r>
            <a:r>
              <a:rPr lang="en-US" altLang="ko-KR" sz="800">
                <a:solidFill>
                  <a:srgbClr val="FFFFFF"/>
                </a:solidFill>
                <a:latin typeface="맑은 고딕" panose="020B0503020000020004" pitchFamily="50" charset="-127"/>
              </a:rPr>
              <a:t>(07-09, 17-19</a:t>
            </a:r>
            <a:r>
              <a:rPr lang="ko-KR" altLang="en-US" sz="800">
                <a:solidFill>
                  <a:srgbClr val="FFFFFF"/>
                </a:solidFill>
                <a:latin typeface="맑은 고딕" panose="020B0503020000020004" pitchFamily="50" charset="-127"/>
              </a:rPr>
              <a:t>시</a:t>
            </a:r>
            <a:r>
              <a:rPr lang="en-US" altLang="ko-KR" sz="800">
                <a:solidFill>
                  <a:srgbClr val="FFFFFF"/>
                </a:solidFill>
                <a:latin typeface="맑은 고딕" panose="020B0503020000020004" pitchFamily="50" charset="-127"/>
              </a:rPr>
              <a:t>)</a:t>
            </a:r>
            <a:endParaRPr lang="ko-KR" altLang="en-US" sz="800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35C7C9F2-D20A-78AC-ADE1-7172DFB4ABCF}"/>
              </a:ext>
            </a:extLst>
          </p:cNvPr>
          <p:cNvSpPr/>
          <p:nvPr/>
        </p:nvSpPr>
        <p:spPr>
          <a:xfrm>
            <a:off x="3048000" y="4064000"/>
            <a:ext cx="2540000" cy="2540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7B1939D-EC2A-CF6D-13F7-92BB7BD88DF9}"/>
              </a:ext>
            </a:extLst>
          </p:cNvPr>
          <p:cNvSpPr txBox="1"/>
          <p:nvPr/>
        </p:nvSpPr>
        <p:spPr>
          <a:xfrm>
            <a:off x="3124200" y="40894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800">
                <a:solidFill>
                  <a:srgbClr val="FFFFFF"/>
                </a:solidFill>
                <a:latin typeface="맑은 고딕" panose="020B0503020000020004" pitchFamily="50" charset="-127"/>
              </a:rPr>
              <a:t>낮 시간대 집중 </a:t>
            </a:r>
            <a:r>
              <a:rPr lang="en-US" altLang="ko-KR" sz="800">
                <a:solidFill>
                  <a:srgbClr val="FFFFFF"/>
                </a:solidFill>
                <a:latin typeface="맑은 고딕" panose="020B0503020000020004" pitchFamily="50" charset="-127"/>
              </a:rPr>
              <a:t>(10-13</a:t>
            </a:r>
            <a:r>
              <a:rPr lang="ko-KR" altLang="en-US" sz="800">
                <a:solidFill>
                  <a:srgbClr val="FFFFFF"/>
                </a:solidFill>
                <a:latin typeface="맑은 고딕" panose="020B0503020000020004" pitchFamily="50" charset="-127"/>
              </a:rPr>
              <a:t>시</a:t>
            </a:r>
            <a:r>
              <a:rPr lang="en-US" altLang="ko-KR" sz="800">
                <a:solidFill>
                  <a:srgbClr val="FFFFFF"/>
                </a:solidFill>
                <a:latin typeface="맑은 고딕" panose="020B0503020000020004" pitchFamily="50" charset="-127"/>
              </a:rPr>
              <a:t>)</a:t>
            </a:r>
            <a:endParaRPr lang="ko-KR" altLang="en-US" sz="800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4D1FCD1A-9853-BE3D-B156-ECC35379F34D}"/>
              </a:ext>
            </a:extLst>
          </p:cNvPr>
          <p:cNvSpPr/>
          <p:nvPr/>
        </p:nvSpPr>
        <p:spPr>
          <a:xfrm>
            <a:off x="5715000" y="4064000"/>
            <a:ext cx="2540000" cy="2540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15D4CE7-1CDF-4995-55BF-4847DE988D7A}"/>
              </a:ext>
            </a:extLst>
          </p:cNvPr>
          <p:cNvSpPr txBox="1"/>
          <p:nvPr/>
        </p:nvSpPr>
        <p:spPr>
          <a:xfrm>
            <a:off x="5791200" y="4089400"/>
            <a:ext cx="254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800">
                <a:solidFill>
                  <a:srgbClr val="FFFFFF"/>
                </a:solidFill>
                <a:latin typeface="맑은 고딕" panose="020B0503020000020004" pitchFamily="50" charset="-127"/>
              </a:rPr>
              <a:t>기타 시간대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EA20879F-602C-4364-243C-2BA8FD8C5DFA}"/>
              </a:ext>
            </a:extLst>
          </p:cNvPr>
          <p:cNvSpPr/>
          <p:nvPr/>
        </p:nvSpPr>
        <p:spPr>
          <a:xfrm>
            <a:off x="304800" y="4521200"/>
            <a:ext cx="11582400" cy="1651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15D8F45-5A23-BF80-E70B-396F332A0040}"/>
              </a:ext>
            </a:extLst>
          </p:cNvPr>
          <p:cNvSpPr txBox="1"/>
          <p:nvPr/>
        </p:nvSpPr>
        <p:spPr>
          <a:xfrm>
            <a:off x="457200" y="4648200"/>
            <a:ext cx="1117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>
                <a:solidFill>
                  <a:srgbClr val="CBD5E1"/>
                </a:solidFill>
                <a:latin typeface="맑은 고딕" panose="020B0503020000020004" pitchFamily="50" charset="-127"/>
              </a:rPr>
              <a:t>▸ 오전 피크 </a:t>
            </a:r>
            <a:r>
              <a:rPr lang="en-US" altLang="ko-KR" sz="900">
                <a:solidFill>
                  <a:srgbClr val="CBD5E1"/>
                </a:solidFill>
                <a:latin typeface="맑은 고딕" panose="020B0503020000020004" pitchFamily="50" charset="-127"/>
              </a:rPr>
              <a:t>(07-09</a:t>
            </a:r>
            <a:r>
              <a:rPr lang="ko-KR" altLang="en-US" sz="900">
                <a:solidFill>
                  <a:srgbClr val="CBD5E1"/>
                </a:solidFill>
                <a:latin typeface="맑은 고딕" panose="020B0503020000020004" pitchFamily="50" charset="-127"/>
              </a:rPr>
              <a:t>시</a:t>
            </a:r>
            <a:r>
              <a:rPr lang="en-US" altLang="ko-KR" sz="900">
                <a:solidFill>
                  <a:srgbClr val="CBD5E1"/>
                </a:solidFill>
                <a:latin typeface="맑은 고딕" panose="020B0503020000020004" pitchFamily="50" charset="-127"/>
              </a:rPr>
              <a:t>): </a:t>
            </a:r>
            <a:r>
              <a:rPr lang="ko-KR" altLang="en-US" sz="900">
                <a:solidFill>
                  <a:srgbClr val="CBD5E1"/>
                </a:solidFill>
                <a:latin typeface="맑은 고딕" panose="020B0503020000020004" pitchFamily="50" charset="-127"/>
              </a:rPr>
              <a:t>출근 시간대와 공사 겹침으로 정체 빈발
▸ 오후 피크 </a:t>
            </a:r>
            <a:r>
              <a:rPr lang="en-US" altLang="ko-KR" sz="900">
                <a:solidFill>
                  <a:srgbClr val="CBD5E1"/>
                </a:solidFill>
                <a:latin typeface="맑은 고딕" panose="020B0503020000020004" pitchFamily="50" charset="-127"/>
              </a:rPr>
              <a:t>(17-19</a:t>
            </a:r>
            <a:r>
              <a:rPr lang="ko-KR" altLang="en-US" sz="900">
                <a:solidFill>
                  <a:srgbClr val="CBD5E1"/>
                </a:solidFill>
                <a:latin typeface="맑은 고딕" panose="020B0503020000020004" pitchFamily="50" charset="-127"/>
              </a:rPr>
              <a:t>시</a:t>
            </a:r>
            <a:r>
              <a:rPr lang="en-US" altLang="ko-KR" sz="900">
                <a:solidFill>
                  <a:srgbClr val="CBD5E1"/>
                </a:solidFill>
                <a:latin typeface="맑은 고딕" panose="020B0503020000020004" pitchFamily="50" charset="-127"/>
              </a:rPr>
              <a:t>): </a:t>
            </a:r>
            <a:r>
              <a:rPr lang="ko-KR" altLang="en-US" sz="900">
                <a:solidFill>
                  <a:srgbClr val="CBD5E1"/>
                </a:solidFill>
                <a:latin typeface="맑은 고딕" panose="020B0503020000020004" pitchFamily="50" charset="-127"/>
              </a:rPr>
              <a:t>퇴근 </a:t>
            </a:r>
            <a:r>
              <a:rPr lang="en-US" altLang="ko-KR" sz="900">
                <a:solidFill>
                  <a:srgbClr val="CBD5E1"/>
                </a:solidFill>
                <a:latin typeface="맑은 고딕" panose="020B0503020000020004" pitchFamily="50" charset="-127"/>
              </a:rPr>
              <a:t>+ </a:t>
            </a:r>
            <a:r>
              <a:rPr lang="ko-KR" altLang="en-US" sz="900">
                <a:solidFill>
                  <a:srgbClr val="CBD5E1"/>
                </a:solidFill>
                <a:latin typeface="맑은 고딕" panose="020B0503020000020004" pitchFamily="50" charset="-127"/>
              </a:rPr>
              <a:t>행사</a:t>
            </a:r>
            <a:r>
              <a:rPr lang="en-US" altLang="ko-KR" sz="900">
                <a:solidFill>
                  <a:srgbClr val="CBD5E1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CBD5E1"/>
                </a:solidFill>
                <a:latin typeface="맑은 고딕" panose="020B0503020000020004" pitchFamily="50" charset="-127"/>
              </a:rPr>
              <a:t>주말 정체 복합 발생</a:t>
            </a:r>
            <a:r>
              <a:rPr lang="en-US" altLang="ko-KR" sz="900">
                <a:solidFill>
                  <a:srgbClr val="CBD5E1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900">
                <a:solidFill>
                  <a:srgbClr val="CBD5E1"/>
                </a:solidFill>
                <a:latin typeface="맑은 고딕" panose="020B0503020000020004" pitchFamily="50" charset="-127"/>
              </a:rPr>
              <a:t>장기화 경향
▸ 심야 </a:t>
            </a:r>
            <a:r>
              <a:rPr lang="en-US" altLang="ko-KR" sz="900">
                <a:solidFill>
                  <a:srgbClr val="CBD5E1"/>
                </a:solidFill>
                <a:latin typeface="맑은 고딕" panose="020B0503020000020004" pitchFamily="50" charset="-127"/>
              </a:rPr>
              <a:t>(22-04</a:t>
            </a:r>
            <a:r>
              <a:rPr lang="ko-KR" altLang="en-US" sz="900">
                <a:solidFill>
                  <a:srgbClr val="CBD5E1"/>
                </a:solidFill>
                <a:latin typeface="맑은 고딕" panose="020B0503020000020004" pitchFamily="50" charset="-127"/>
              </a:rPr>
              <a:t>시</a:t>
            </a:r>
            <a:r>
              <a:rPr lang="en-US" altLang="ko-KR" sz="900">
                <a:solidFill>
                  <a:srgbClr val="CBD5E1"/>
                </a:solidFill>
                <a:latin typeface="맑은 고딕" panose="020B0503020000020004" pitchFamily="50" charset="-127"/>
              </a:rPr>
              <a:t>): </a:t>
            </a:r>
            <a:r>
              <a:rPr lang="ko-KR" altLang="en-US" sz="900">
                <a:solidFill>
                  <a:srgbClr val="CBD5E1"/>
                </a:solidFill>
                <a:latin typeface="맑은 고딕" panose="020B0503020000020004" pitchFamily="50" charset="-127"/>
              </a:rPr>
              <a:t>공사</a:t>
            </a:r>
            <a:r>
              <a:rPr lang="en-US" altLang="ko-KR" sz="900">
                <a:solidFill>
                  <a:srgbClr val="CBD5E1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CBD5E1"/>
                </a:solidFill>
                <a:latin typeface="맑은 고딕" panose="020B0503020000020004" pitchFamily="50" charset="-127"/>
              </a:rPr>
              <a:t>기상악화로 예상치 못한 정체 발생 </a:t>
            </a:r>
            <a:r>
              <a:rPr lang="en-US" altLang="ko-KR" sz="900">
                <a:solidFill>
                  <a:srgbClr val="CBD5E1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900">
                <a:solidFill>
                  <a:srgbClr val="CBD5E1"/>
                </a:solidFill>
                <a:latin typeface="맑은 고딕" panose="020B0503020000020004" pitchFamily="50" charset="-127"/>
              </a:rPr>
              <a:t>안전 취약 시간대
▸ 점심 </a:t>
            </a:r>
            <a:r>
              <a:rPr lang="en-US" altLang="ko-KR" sz="900">
                <a:solidFill>
                  <a:srgbClr val="CBD5E1"/>
                </a:solidFill>
                <a:latin typeface="맑은 고딕" panose="020B0503020000020004" pitchFamily="50" charset="-127"/>
              </a:rPr>
              <a:t>(10-13</a:t>
            </a:r>
            <a:r>
              <a:rPr lang="ko-KR" altLang="en-US" sz="900">
                <a:solidFill>
                  <a:srgbClr val="CBD5E1"/>
                </a:solidFill>
                <a:latin typeface="맑은 고딕" panose="020B0503020000020004" pitchFamily="50" charset="-127"/>
              </a:rPr>
              <a:t>시</a:t>
            </a:r>
            <a:r>
              <a:rPr lang="en-US" altLang="ko-KR" sz="900">
                <a:solidFill>
                  <a:srgbClr val="CBD5E1"/>
                </a:solidFill>
                <a:latin typeface="맑은 고딕" panose="020B0503020000020004" pitchFamily="50" charset="-127"/>
              </a:rPr>
              <a:t>): </a:t>
            </a:r>
            <a:r>
              <a:rPr lang="ko-KR" altLang="en-US" sz="900">
                <a:solidFill>
                  <a:srgbClr val="CBD5E1"/>
                </a:solidFill>
                <a:latin typeface="맑은 고딕" panose="020B0503020000020004" pitchFamily="50" charset="-127"/>
              </a:rPr>
              <a:t>물류 이동 증가로 중형</a:t>
            </a:r>
            <a:r>
              <a:rPr lang="en-US" altLang="ko-KR" sz="900">
                <a:solidFill>
                  <a:srgbClr val="CBD5E1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CBD5E1"/>
                </a:solidFill>
                <a:latin typeface="맑은 고딕" panose="020B0503020000020004" pitchFamily="50" charset="-127"/>
              </a:rPr>
              <a:t>대형화물 비중 높아 정체 유발</a:t>
            </a:r>
          </a:p>
        </p:txBody>
      </p:sp>
    </p:spTree>
    <p:extLst>
      <p:ext uri="{BB962C8B-B14F-4D97-AF65-F5344CB8AC3E}">
        <p14:creationId xmlns:p14="http://schemas.microsoft.com/office/powerpoint/2010/main" val="371630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B070F45-31CD-DF97-7138-BA17FE7B618F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061B3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FD0692-EC26-EE47-7828-0862419CC57D}"/>
              </a:ext>
            </a:extLst>
          </p:cNvPr>
          <p:cNvSpPr txBox="1"/>
          <p:nvPr/>
        </p:nvSpPr>
        <p:spPr>
          <a:xfrm>
            <a:off x="254000" y="152400"/>
            <a:ext cx="889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000" b="1">
                <a:solidFill>
                  <a:srgbClr val="FFFFFF"/>
                </a:solidFill>
                <a:latin typeface="맑은 고딕" panose="020B0503020000020004" pitchFamily="50" charset="-127"/>
              </a:rPr>
              <a:t>종합 시사점 및 개선 방향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96495D-495B-6FFC-A76A-4A4FB0D6FF79}"/>
              </a:ext>
            </a:extLst>
          </p:cNvPr>
          <p:cNvSpPr txBox="1"/>
          <p:nvPr/>
        </p:nvSpPr>
        <p:spPr>
          <a:xfrm>
            <a:off x="254000" y="558800"/>
            <a:ext cx="889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100">
                <a:solidFill>
                  <a:srgbClr val="94A3B8"/>
                </a:solidFill>
                <a:latin typeface="맑은 고딕" panose="020B0503020000020004" pitchFamily="50" charset="-127"/>
              </a:rPr>
              <a:t>데이터 기반 정체 저감 전략 제언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DF206C-74D5-F2D5-E9D1-AE34EBB68036}"/>
              </a:ext>
            </a:extLst>
          </p:cNvPr>
          <p:cNvSpPr txBox="1"/>
          <p:nvPr/>
        </p:nvSpPr>
        <p:spPr>
          <a:xfrm>
            <a:off x="10414000" y="254000"/>
            <a:ext cx="1651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1100" b="1">
                <a:solidFill>
                  <a:srgbClr val="94A3B8"/>
                </a:solidFill>
                <a:latin typeface="맑은 고딕" panose="020B0503020000020004" pitchFamily="50" charset="-127"/>
              </a:rPr>
              <a:t>한국도로공사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2992FE3-BFF4-7308-0B77-06BEED3BA261}"/>
              </a:ext>
            </a:extLst>
          </p:cNvPr>
          <p:cNvSpPr/>
          <p:nvPr/>
        </p:nvSpPr>
        <p:spPr>
          <a:xfrm>
            <a:off x="304800" y="1143000"/>
            <a:ext cx="11582400" cy="12192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BFB6AA6-F2BD-8BD6-1013-61727E37A576}"/>
              </a:ext>
            </a:extLst>
          </p:cNvPr>
          <p:cNvSpPr/>
          <p:nvPr/>
        </p:nvSpPr>
        <p:spPr>
          <a:xfrm>
            <a:off x="304800" y="1143000"/>
            <a:ext cx="50800" cy="1219200"/>
          </a:xfrm>
          <a:prstGeom prst="rect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75C90D72-9B8E-E205-E934-FEC7375390D6}"/>
              </a:ext>
            </a:extLst>
          </p:cNvPr>
          <p:cNvSpPr/>
          <p:nvPr/>
        </p:nvSpPr>
        <p:spPr>
          <a:xfrm>
            <a:off x="457200" y="1422400"/>
            <a:ext cx="609600" cy="609600"/>
          </a:xfrm>
          <a:prstGeom prst="ellipse">
            <a:avLst/>
          </a:prstGeom>
          <a:solidFill>
            <a:srgbClr val="3B82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34C4EF-90DC-FCD7-BFDC-4B7C46579D30}"/>
              </a:ext>
            </a:extLst>
          </p:cNvPr>
          <p:cNvSpPr txBox="1"/>
          <p:nvPr/>
        </p:nvSpPr>
        <p:spPr>
          <a:xfrm>
            <a:off x="457200" y="1524000"/>
            <a:ext cx="6096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 panose="020B0503020000020004" pitchFamily="50" charset="-127"/>
              </a:rPr>
              <a:t>01</a:t>
            </a:r>
            <a:endParaRPr lang="ko-KR" altLang="en-US" sz="14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D235E0-A632-FCDB-6D5B-11A0365A6179}"/>
              </a:ext>
            </a:extLst>
          </p:cNvPr>
          <p:cNvSpPr txBox="1"/>
          <p:nvPr/>
        </p:nvSpPr>
        <p:spPr>
          <a:xfrm>
            <a:off x="1219200" y="13462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200" b="1">
                <a:solidFill>
                  <a:srgbClr val="3B82F6"/>
                </a:solidFill>
                <a:latin typeface="맑은 고딕" panose="020B0503020000020004" pitchFamily="50" charset="-127"/>
              </a:rPr>
              <a:t>공사 시간대 분산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62D769-55CF-46B9-F2B3-3376DF50147A}"/>
              </a:ext>
            </a:extLst>
          </p:cNvPr>
          <p:cNvSpPr txBox="1"/>
          <p:nvPr/>
        </p:nvSpPr>
        <p:spPr>
          <a:xfrm>
            <a:off x="1219200" y="1701800"/>
            <a:ext cx="1041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>
                <a:solidFill>
                  <a:srgbClr val="CBD5E1"/>
                </a:solidFill>
                <a:latin typeface="맑은 고딕" panose="020B0503020000020004" pitchFamily="50" charset="-127"/>
              </a:rPr>
              <a:t>전체 정체의 </a:t>
            </a:r>
            <a:r>
              <a:rPr lang="en-US" altLang="ko-KR" sz="900">
                <a:solidFill>
                  <a:srgbClr val="CBD5E1"/>
                </a:solidFill>
                <a:latin typeface="맑은 고딕" panose="020B0503020000020004" pitchFamily="50" charset="-127"/>
              </a:rPr>
              <a:t>21%</a:t>
            </a:r>
            <a:r>
              <a:rPr lang="ko-KR" altLang="en-US" sz="900">
                <a:solidFill>
                  <a:srgbClr val="CBD5E1"/>
                </a:solidFill>
                <a:latin typeface="맑은 고딕" panose="020B0503020000020004" pitchFamily="50" charset="-127"/>
              </a:rPr>
              <a:t>를 차지하는 공사를 심야</a:t>
            </a:r>
            <a:r>
              <a:rPr lang="en-US" altLang="ko-KR" sz="900">
                <a:solidFill>
                  <a:srgbClr val="CBD5E1"/>
                </a:solidFill>
                <a:latin typeface="맑은 고딕" panose="020B0503020000020004" pitchFamily="50" charset="-127"/>
              </a:rPr>
              <a:t>(02-05</a:t>
            </a:r>
            <a:r>
              <a:rPr lang="ko-KR" altLang="en-US" sz="900">
                <a:solidFill>
                  <a:srgbClr val="CBD5E1"/>
                </a:solidFill>
                <a:latin typeface="맑은 고딕" panose="020B0503020000020004" pitchFamily="50" charset="-127"/>
              </a:rPr>
              <a:t>시</a:t>
            </a:r>
            <a:r>
              <a:rPr lang="en-US" altLang="ko-KR" sz="900">
                <a:solidFill>
                  <a:srgbClr val="CBD5E1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900">
                <a:solidFill>
                  <a:srgbClr val="CBD5E1"/>
                </a:solidFill>
                <a:latin typeface="맑은 고딕" panose="020B0503020000020004" pitchFamily="50" charset="-127"/>
              </a:rPr>
              <a:t>나 주중 저유동 시간대로 집중 배치하여 출퇴근 피해 최소화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9BA3CF5-E277-A139-6CE6-1EBEFE026563}"/>
              </a:ext>
            </a:extLst>
          </p:cNvPr>
          <p:cNvSpPr/>
          <p:nvPr/>
        </p:nvSpPr>
        <p:spPr>
          <a:xfrm>
            <a:off x="304800" y="2489200"/>
            <a:ext cx="11582400" cy="12192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CA6DD04-853D-B2ED-B0FC-F20ACDE3D003}"/>
              </a:ext>
            </a:extLst>
          </p:cNvPr>
          <p:cNvSpPr/>
          <p:nvPr/>
        </p:nvSpPr>
        <p:spPr>
          <a:xfrm>
            <a:off x="304800" y="2489200"/>
            <a:ext cx="50800" cy="1219200"/>
          </a:xfrm>
          <a:prstGeom prst="rect">
            <a:avLst/>
          </a:prstGeom>
          <a:solidFill>
            <a:srgbClr val="22C55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8924C91A-9B1E-E3FA-3023-3D4F6BAE08BC}"/>
              </a:ext>
            </a:extLst>
          </p:cNvPr>
          <p:cNvSpPr/>
          <p:nvPr/>
        </p:nvSpPr>
        <p:spPr>
          <a:xfrm>
            <a:off x="457200" y="2768600"/>
            <a:ext cx="609600" cy="609600"/>
          </a:xfrm>
          <a:prstGeom prst="ellipse">
            <a:avLst/>
          </a:prstGeom>
          <a:solidFill>
            <a:srgbClr val="22C55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72633B-D757-7FD1-1718-2FD4DF40FFC5}"/>
              </a:ext>
            </a:extLst>
          </p:cNvPr>
          <p:cNvSpPr txBox="1"/>
          <p:nvPr/>
        </p:nvSpPr>
        <p:spPr>
          <a:xfrm>
            <a:off x="457200" y="2870200"/>
            <a:ext cx="6096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 panose="020B0503020000020004" pitchFamily="50" charset="-127"/>
              </a:rPr>
              <a:t>02</a:t>
            </a:r>
            <a:endParaRPr lang="ko-KR" altLang="en-US" sz="14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9508F9-C13D-A849-E719-D4518E91C5BF}"/>
              </a:ext>
            </a:extLst>
          </p:cNvPr>
          <p:cNvSpPr txBox="1"/>
          <p:nvPr/>
        </p:nvSpPr>
        <p:spPr>
          <a:xfrm>
            <a:off x="1219200" y="26924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200" b="1">
                <a:solidFill>
                  <a:srgbClr val="22C55E"/>
                </a:solidFill>
                <a:latin typeface="맑은 고딕" panose="020B0503020000020004" pitchFamily="50" charset="-127"/>
              </a:rPr>
              <a:t>행사 교통 관리 강화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E1242D-9A86-DAF5-1606-424B6B7FD20A}"/>
              </a:ext>
            </a:extLst>
          </p:cNvPr>
          <p:cNvSpPr txBox="1"/>
          <p:nvPr/>
        </p:nvSpPr>
        <p:spPr>
          <a:xfrm>
            <a:off x="1219200" y="3048000"/>
            <a:ext cx="1041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>
                <a:solidFill>
                  <a:srgbClr val="CBD5E1"/>
                </a:solidFill>
                <a:latin typeface="맑은 고딕" panose="020B0503020000020004" pitchFamily="50" charset="-127"/>
              </a:rPr>
              <a:t>행사 원인 평균 </a:t>
            </a:r>
            <a:r>
              <a:rPr lang="en-US" altLang="ko-KR" sz="900">
                <a:solidFill>
                  <a:srgbClr val="CBD5E1"/>
                </a:solidFill>
                <a:latin typeface="맑은 고딕" panose="020B0503020000020004" pitchFamily="50" charset="-127"/>
              </a:rPr>
              <a:t>67</a:t>
            </a:r>
            <a:r>
              <a:rPr lang="ko-KR" altLang="en-US" sz="900">
                <a:solidFill>
                  <a:srgbClr val="CBD5E1"/>
                </a:solidFill>
                <a:latin typeface="맑은 고딕" panose="020B0503020000020004" pitchFamily="50" charset="-127"/>
              </a:rPr>
              <a:t>분 지속 </a:t>
            </a:r>
            <a:r>
              <a:rPr lang="en-US" altLang="ko-KR" sz="900">
                <a:solidFill>
                  <a:srgbClr val="CBD5E1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900">
                <a:solidFill>
                  <a:srgbClr val="CBD5E1"/>
                </a:solidFill>
                <a:latin typeface="맑은 고딕" panose="020B0503020000020004" pitchFamily="50" charset="-127"/>
              </a:rPr>
              <a:t>사전 교통 영향 평가 의무화 및 우회 안내 시스템 연계 강화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96F9E05-12D7-BA6A-C241-9FFD6F9F8A66}"/>
              </a:ext>
            </a:extLst>
          </p:cNvPr>
          <p:cNvSpPr/>
          <p:nvPr/>
        </p:nvSpPr>
        <p:spPr>
          <a:xfrm>
            <a:off x="304800" y="3835400"/>
            <a:ext cx="11582400" cy="12192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FA3CAEA-D334-3C8D-04C4-DCB9501FAD51}"/>
              </a:ext>
            </a:extLst>
          </p:cNvPr>
          <p:cNvSpPr/>
          <p:nvPr/>
        </p:nvSpPr>
        <p:spPr>
          <a:xfrm>
            <a:off x="304800" y="3835400"/>
            <a:ext cx="50800" cy="12192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F6CAC637-4840-293B-3A60-3325E0B98E2F}"/>
              </a:ext>
            </a:extLst>
          </p:cNvPr>
          <p:cNvSpPr/>
          <p:nvPr/>
        </p:nvSpPr>
        <p:spPr>
          <a:xfrm>
            <a:off x="457200" y="4114800"/>
            <a:ext cx="609600" cy="609600"/>
          </a:xfrm>
          <a:prstGeom prst="ellipse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FE091E-B51A-D9AC-D418-43087DF233F7}"/>
              </a:ext>
            </a:extLst>
          </p:cNvPr>
          <p:cNvSpPr txBox="1"/>
          <p:nvPr/>
        </p:nvSpPr>
        <p:spPr>
          <a:xfrm>
            <a:off x="457200" y="4216400"/>
            <a:ext cx="6096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 panose="020B0503020000020004" pitchFamily="50" charset="-127"/>
              </a:rPr>
              <a:t>03</a:t>
            </a:r>
            <a:endParaRPr lang="ko-KR" altLang="en-US" sz="14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D50997-AF38-3438-0A6E-36F63874989C}"/>
              </a:ext>
            </a:extLst>
          </p:cNvPr>
          <p:cNvSpPr txBox="1"/>
          <p:nvPr/>
        </p:nvSpPr>
        <p:spPr>
          <a:xfrm>
            <a:off x="1219200" y="40386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200" b="1">
                <a:solidFill>
                  <a:srgbClr val="F59E0B"/>
                </a:solidFill>
                <a:latin typeface="맑은 고딕" panose="020B0503020000020004" pitchFamily="50" charset="-127"/>
              </a:rPr>
              <a:t>경부고속도로 집중 관리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09AD1E-5B1B-DEAB-7156-4FD8EBF68A3F}"/>
              </a:ext>
            </a:extLst>
          </p:cNvPr>
          <p:cNvSpPr txBox="1"/>
          <p:nvPr/>
        </p:nvSpPr>
        <p:spPr>
          <a:xfrm>
            <a:off x="1219200" y="4394200"/>
            <a:ext cx="1041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>
                <a:solidFill>
                  <a:srgbClr val="CBD5E1"/>
                </a:solidFill>
                <a:latin typeface="맑은 고딕" panose="020B0503020000020004" pitchFamily="50" charset="-127"/>
              </a:rPr>
              <a:t>전체 </a:t>
            </a:r>
            <a:r>
              <a:rPr lang="en-US" altLang="ko-KR" sz="900">
                <a:solidFill>
                  <a:srgbClr val="CBD5E1"/>
                </a:solidFill>
                <a:latin typeface="맑은 고딕" panose="020B0503020000020004" pitchFamily="50" charset="-127"/>
              </a:rPr>
              <a:t>40% </a:t>
            </a:r>
            <a:r>
              <a:rPr lang="ko-KR" altLang="en-US" sz="900">
                <a:solidFill>
                  <a:srgbClr val="CBD5E1"/>
                </a:solidFill>
                <a:latin typeface="맑은 고딕" panose="020B0503020000020004" pitchFamily="50" charset="-127"/>
              </a:rPr>
              <a:t>집중 → 안성</a:t>
            </a:r>
            <a:r>
              <a:rPr lang="en-US" altLang="ko-KR" sz="900">
                <a:solidFill>
                  <a:srgbClr val="CBD5E1"/>
                </a:solidFill>
                <a:latin typeface="맑은 고딕" panose="020B0503020000020004" pitchFamily="50" charset="-127"/>
              </a:rPr>
              <a:t>IC~</a:t>
            </a:r>
            <a:r>
              <a:rPr lang="ko-KR" altLang="en-US" sz="900">
                <a:solidFill>
                  <a:srgbClr val="CBD5E1"/>
                </a:solidFill>
                <a:latin typeface="맑은 고딕" panose="020B0503020000020004" pitchFamily="50" charset="-127"/>
              </a:rPr>
              <a:t>천안</a:t>
            </a:r>
            <a:r>
              <a:rPr lang="en-US" altLang="ko-KR" sz="900">
                <a:solidFill>
                  <a:srgbClr val="CBD5E1"/>
                </a:solidFill>
                <a:latin typeface="맑은 고딕" panose="020B0503020000020004" pitchFamily="50" charset="-127"/>
              </a:rPr>
              <a:t>IC, </a:t>
            </a:r>
            <a:r>
              <a:rPr lang="ko-KR" altLang="en-US" sz="900">
                <a:solidFill>
                  <a:srgbClr val="CBD5E1"/>
                </a:solidFill>
                <a:latin typeface="맑은 고딕" panose="020B0503020000020004" pitchFamily="50" charset="-127"/>
              </a:rPr>
              <a:t>서울</a:t>
            </a:r>
            <a:r>
              <a:rPr lang="en-US" altLang="ko-KR" sz="900">
                <a:solidFill>
                  <a:srgbClr val="CBD5E1"/>
                </a:solidFill>
                <a:latin typeface="맑은 고딕" panose="020B0503020000020004" pitchFamily="50" charset="-127"/>
              </a:rPr>
              <a:t>IC~</a:t>
            </a:r>
            <a:r>
              <a:rPr lang="ko-KR" altLang="en-US" sz="900">
                <a:solidFill>
                  <a:srgbClr val="CBD5E1"/>
                </a:solidFill>
                <a:latin typeface="맑은 고딕" panose="020B0503020000020004" pitchFamily="50" charset="-127"/>
              </a:rPr>
              <a:t>수원</a:t>
            </a:r>
            <a:r>
              <a:rPr lang="en-US" altLang="ko-KR" sz="900">
                <a:solidFill>
                  <a:srgbClr val="CBD5E1"/>
                </a:solidFill>
                <a:latin typeface="맑은 고딕" panose="020B0503020000020004" pitchFamily="50" charset="-127"/>
              </a:rPr>
              <a:t>IC </a:t>
            </a:r>
            <a:r>
              <a:rPr lang="ko-KR" altLang="en-US" sz="900">
                <a:solidFill>
                  <a:srgbClr val="CBD5E1"/>
                </a:solidFill>
                <a:latin typeface="맑은 고딕" panose="020B0503020000020004" pitchFamily="50" charset="-127"/>
              </a:rPr>
              <a:t>구간 </a:t>
            </a:r>
            <a:r>
              <a:rPr lang="en-US" altLang="ko-KR" sz="900">
                <a:solidFill>
                  <a:srgbClr val="CBD5E1"/>
                </a:solidFill>
                <a:latin typeface="맑은 고딕" panose="020B0503020000020004" pitchFamily="50" charset="-127"/>
              </a:rPr>
              <a:t>CCTV·VMS </a:t>
            </a:r>
            <a:r>
              <a:rPr lang="ko-KR" altLang="en-US" sz="900">
                <a:solidFill>
                  <a:srgbClr val="CBD5E1"/>
                </a:solidFill>
                <a:latin typeface="맑은 고딕" panose="020B0503020000020004" pitchFamily="50" charset="-127"/>
              </a:rPr>
              <a:t>확충 및 실시간 제어 강화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E69444F-CF3F-A06E-3D09-3245E3E665E8}"/>
              </a:ext>
            </a:extLst>
          </p:cNvPr>
          <p:cNvSpPr/>
          <p:nvPr/>
        </p:nvSpPr>
        <p:spPr>
          <a:xfrm>
            <a:off x="304800" y="5181600"/>
            <a:ext cx="11582400" cy="12192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7A216FF-39EE-7A54-9C0A-58012EC64677}"/>
              </a:ext>
            </a:extLst>
          </p:cNvPr>
          <p:cNvSpPr/>
          <p:nvPr/>
        </p:nvSpPr>
        <p:spPr>
          <a:xfrm>
            <a:off x="304800" y="5181600"/>
            <a:ext cx="50800" cy="1219200"/>
          </a:xfrm>
          <a:prstGeom prst="rect">
            <a:avLst/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0E9A7049-BCAE-2EEA-3614-E10678EA05C5}"/>
              </a:ext>
            </a:extLst>
          </p:cNvPr>
          <p:cNvSpPr/>
          <p:nvPr/>
        </p:nvSpPr>
        <p:spPr>
          <a:xfrm>
            <a:off x="457200" y="5461000"/>
            <a:ext cx="609600" cy="609600"/>
          </a:xfrm>
          <a:prstGeom prst="ellipse">
            <a:avLst/>
          </a:prstGeom>
          <a:solidFill>
            <a:srgbClr val="EF44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D6C946-F264-172E-807C-53693F6EEB98}"/>
              </a:ext>
            </a:extLst>
          </p:cNvPr>
          <p:cNvSpPr txBox="1"/>
          <p:nvPr/>
        </p:nvSpPr>
        <p:spPr>
          <a:xfrm>
            <a:off x="457200" y="5562600"/>
            <a:ext cx="6096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 panose="020B0503020000020004" pitchFamily="50" charset="-127"/>
              </a:rPr>
              <a:t>04</a:t>
            </a:r>
            <a:endParaRPr lang="ko-KR" altLang="en-US" sz="1400" b="1">
              <a:solidFill>
                <a:srgbClr val="FFFFF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9F1FE45-4638-B983-8E2F-C37C2E0E327E}"/>
              </a:ext>
            </a:extLst>
          </p:cNvPr>
          <p:cNvSpPr txBox="1"/>
          <p:nvPr/>
        </p:nvSpPr>
        <p:spPr>
          <a:xfrm>
            <a:off x="1219200" y="5384800"/>
            <a:ext cx="508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200" b="1">
                <a:solidFill>
                  <a:srgbClr val="EF4444"/>
                </a:solidFill>
                <a:latin typeface="맑은 고딕" panose="020B0503020000020004" pitchFamily="50" charset="-127"/>
              </a:rPr>
              <a:t>기상</a:t>
            </a:r>
            <a:r>
              <a:rPr lang="en-US" altLang="ko-KR" sz="1200" b="1">
                <a:solidFill>
                  <a:srgbClr val="EF4444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200" b="1">
                <a:solidFill>
                  <a:srgbClr val="EF4444"/>
                </a:solidFill>
                <a:latin typeface="맑은 고딕" panose="020B0503020000020004" pitchFamily="50" charset="-127"/>
              </a:rPr>
              <a:t>사고 조기 대응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749E7E5-85E9-FF0B-E24B-A645B9975BD9}"/>
              </a:ext>
            </a:extLst>
          </p:cNvPr>
          <p:cNvSpPr txBox="1"/>
          <p:nvPr/>
        </p:nvSpPr>
        <p:spPr>
          <a:xfrm>
            <a:off x="1219200" y="5740400"/>
            <a:ext cx="1041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900">
                <a:solidFill>
                  <a:srgbClr val="CBD5E1"/>
                </a:solidFill>
                <a:latin typeface="맑은 고딕" panose="020B0503020000020004" pitchFamily="50" charset="-127"/>
              </a:rPr>
              <a:t>예측 불가 원인 합계 </a:t>
            </a:r>
            <a:r>
              <a:rPr lang="en-US" altLang="ko-KR" sz="900">
                <a:solidFill>
                  <a:srgbClr val="CBD5E1"/>
                </a:solidFill>
                <a:latin typeface="맑은 고딕" panose="020B0503020000020004" pitchFamily="50" charset="-127"/>
              </a:rPr>
              <a:t>38</a:t>
            </a:r>
            <a:r>
              <a:rPr lang="ko-KR" altLang="en-US" sz="900">
                <a:solidFill>
                  <a:srgbClr val="CBD5E1"/>
                </a:solidFill>
                <a:latin typeface="맑은 고딕" panose="020B0503020000020004" pitchFamily="50" charset="-127"/>
              </a:rPr>
              <a:t>건</a:t>
            </a:r>
            <a:r>
              <a:rPr lang="en-US" altLang="ko-KR" sz="900">
                <a:solidFill>
                  <a:srgbClr val="CBD5E1"/>
                </a:solidFill>
                <a:latin typeface="맑은 고딕" panose="020B0503020000020004" pitchFamily="50" charset="-127"/>
              </a:rPr>
              <a:t>(32%) — AI </a:t>
            </a:r>
            <a:r>
              <a:rPr lang="ko-KR" altLang="en-US" sz="900">
                <a:solidFill>
                  <a:srgbClr val="CBD5E1"/>
                </a:solidFill>
                <a:latin typeface="맑은 고딕" panose="020B0503020000020004" pitchFamily="50" charset="-127"/>
              </a:rPr>
              <a:t>기반 기상 연동 교통예보 시스템 고도화 및 사고 자동 감지 확대</a:t>
            </a:r>
          </a:p>
        </p:txBody>
      </p:sp>
    </p:spTree>
    <p:extLst>
      <p:ext uri="{BB962C8B-B14F-4D97-AF65-F5344CB8AC3E}">
        <p14:creationId xmlns:p14="http://schemas.microsoft.com/office/powerpoint/2010/main" val="1565733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814</Words>
  <Application>Microsoft Office PowerPoint</Application>
  <PresentationFormat>사용자 지정</PresentationFormat>
  <Paragraphs>232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L2404161</dc:creator>
  <cp:lastModifiedBy>L2404161</cp:lastModifiedBy>
  <cp:revision>1</cp:revision>
  <dcterms:created xsi:type="dcterms:W3CDTF">2026-05-11T06:37:26Z</dcterms:created>
  <dcterms:modified xsi:type="dcterms:W3CDTF">2026-05-11T06:37:26Z</dcterms:modified>
</cp:coreProperties>
</file>